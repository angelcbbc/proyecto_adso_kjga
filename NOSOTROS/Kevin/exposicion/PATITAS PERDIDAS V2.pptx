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67" r:id="rId5"/>
    <p:sldId id="26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8288000" cy="10287000"/>
  <p:notesSz cx="6858000" cy="9144000"/>
  <p:embeddedFontLs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Canva Sans" panose="020B0604020202020204" charset="0"/>
      <p:regular r:id="rId19"/>
    </p:embeddedFont>
    <p:embeddedFont>
      <p:font typeface="Comic Sans" panose="020B0604020202020204" charset="0"/>
      <p:regular r:id="rId20"/>
    </p:embeddedFont>
    <p:embeddedFont>
      <p:font typeface="Lilita One" panose="020B0604020202020204" charset="0"/>
      <p:regular r:id="rId21"/>
    </p:embeddedFont>
    <p:embeddedFont>
      <p:font typeface="Open Sans" panose="020B0604020202020204" charset="0"/>
      <p:regular r:id="rId22"/>
    </p:embeddedFont>
    <p:embeddedFont>
      <p:font typeface="Open Sans Bold" panose="020B0604020202020204" charset="0"/>
      <p:regular r:id="rId23"/>
    </p:embeddedFont>
    <p:embeddedFont>
      <p:font typeface="TT Norms Bold" panose="020B0604020202020204" charset="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371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33" d="100"/>
          <a:sy n="33" d="100"/>
        </p:scale>
        <p:origin x="1536" y="60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8.fntdata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8.png"/><Relationship Id="rId2" Type="http://schemas.openxmlformats.org/officeDocument/2006/relationships/image" Target="../media/image1.png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6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21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20.png"/><Relationship Id="rId2" Type="http://schemas.openxmlformats.org/officeDocument/2006/relationships/image" Target="../media/image1.png"/><Relationship Id="rId16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6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6913821" cy="4114800"/>
          </a:xfrm>
          <a:custGeom>
            <a:avLst/>
            <a:gdLst/>
            <a:ahLst/>
            <a:cxnLst/>
            <a:rect l="l" t="t" r="r" b="b"/>
            <a:pathLst>
              <a:path w="6913821" h="4114800">
                <a:moveTo>
                  <a:pt x="0" y="0"/>
                </a:moveTo>
                <a:lnTo>
                  <a:pt x="6913821" y="0"/>
                </a:lnTo>
                <a:lnTo>
                  <a:pt x="691382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2569708">
            <a:off x="-195070" y="689565"/>
            <a:ext cx="1914908" cy="3522405"/>
          </a:xfrm>
          <a:custGeom>
            <a:avLst/>
            <a:gdLst/>
            <a:ahLst/>
            <a:cxnLst/>
            <a:rect l="l" t="t" r="r" b="b"/>
            <a:pathLst>
              <a:path w="1914908" h="3522405">
                <a:moveTo>
                  <a:pt x="0" y="0"/>
                </a:moveTo>
                <a:lnTo>
                  <a:pt x="1914907" y="0"/>
                </a:lnTo>
                <a:lnTo>
                  <a:pt x="1914907" y="3522405"/>
                </a:lnTo>
                <a:lnTo>
                  <a:pt x="0" y="35224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1374179" y="6172200"/>
            <a:ext cx="6913821" cy="4114800"/>
          </a:xfrm>
          <a:custGeom>
            <a:avLst/>
            <a:gdLst/>
            <a:ahLst/>
            <a:cxnLst/>
            <a:rect l="l" t="t" r="r" b="b"/>
            <a:pathLst>
              <a:path w="6913821" h="4114800">
                <a:moveTo>
                  <a:pt x="6913821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913821" y="0"/>
                </a:lnTo>
                <a:lnTo>
                  <a:pt x="6913821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544408" y="8399971"/>
            <a:ext cx="2930897" cy="2930897"/>
          </a:xfrm>
          <a:custGeom>
            <a:avLst/>
            <a:gdLst/>
            <a:ahLst/>
            <a:cxnLst/>
            <a:rect l="l" t="t" r="r" b="b"/>
            <a:pathLst>
              <a:path w="2930897" h="2930897">
                <a:moveTo>
                  <a:pt x="0" y="0"/>
                </a:moveTo>
                <a:lnTo>
                  <a:pt x="2930897" y="0"/>
                </a:lnTo>
                <a:lnTo>
                  <a:pt x="2930897" y="2930897"/>
                </a:lnTo>
                <a:lnTo>
                  <a:pt x="0" y="29308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544408" y="8651181"/>
            <a:ext cx="2294220" cy="1993886"/>
          </a:xfrm>
          <a:custGeom>
            <a:avLst/>
            <a:gdLst/>
            <a:ahLst/>
            <a:cxnLst/>
            <a:rect l="l" t="t" r="r" b="b"/>
            <a:pathLst>
              <a:path w="2294220" h="1993886">
                <a:moveTo>
                  <a:pt x="0" y="0"/>
                </a:moveTo>
                <a:lnTo>
                  <a:pt x="2294220" y="0"/>
                </a:lnTo>
                <a:lnTo>
                  <a:pt x="2294220" y="1993885"/>
                </a:lnTo>
                <a:lnTo>
                  <a:pt x="0" y="19938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1724017" flipH="1">
            <a:off x="16555772" y="6096708"/>
            <a:ext cx="1904654" cy="3503543"/>
          </a:xfrm>
          <a:custGeom>
            <a:avLst/>
            <a:gdLst/>
            <a:ahLst/>
            <a:cxnLst/>
            <a:rect l="l" t="t" r="r" b="b"/>
            <a:pathLst>
              <a:path w="1904654" h="3503543">
                <a:moveTo>
                  <a:pt x="1904653" y="0"/>
                </a:moveTo>
                <a:lnTo>
                  <a:pt x="0" y="0"/>
                </a:lnTo>
                <a:lnTo>
                  <a:pt x="0" y="3503544"/>
                </a:lnTo>
                <a:lnTo>
                  <a:pt x="1904653" y="3503544"/>
                </a:lnTo>
                <a:lnTo>
                  <a:pt x="190465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5890365">
            <a:off x="17238110" y="8787417"/>
            <a:ext cx="970351" cy="1784927"/>
          </a:xfrm>
          <a:custGeom>
            <a:avLst/>
            <a:gdLst/>
            <a:ahLst/>
            <a:cxnLst/>
            <a:rect l="l" t="t" r="r" b="b"/>
            <a:pathLst>
              <a:path w="970351" h="1784927">
                <a:moveTo>
                  <a:pt x="0" y="0"/>
                </a:moveTo>
                <a:lnTo>
                  <a:pt x="970351" y="0"/>
                </a:lnTo>
                <a:lnTo>
                  <a:pt x="970351" y="1784927"/>
                </a:lnTo>
                <a:lnTo>
                  <a:pt x="0" y="17849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10688091">
            <a:off x="2406268" y="216322"/>
            <a:ext cx="962496" cy="1231100"/>
          </a:xfrm>
          <a:custGeom>
            <a:avLst/>
            <a:gdLst/>
            <a:ahLst/>
            <a:cxnLst/>
            <a:rect l="l" t="t" r="r" b="b"/>
            <a:pathLst>
              <a:path w="962496" h="1231100">
                <a:moveTo>
                  <a:pt x="0" y="0"/>
                </a:moveTo>
                <a:lnTo>
                  <a:pt x="962496" y="0"/>
                </a:lnTo>
                <a:lnTo>
                  <a:pt x="962496" y="1231100"/>
                </a:lnTo>
                <a:lnTo>
                  <a:pt x="0" y="12311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267603">
            <a:off x="15463627" y="7370994"/>
            <a:ext cx="972775" cy="1244247"/>
          </a:xfrm>
          <a:custGeom>
            <a:avLst/>
            <a:gdLst/>
            <a:ahLst/>
            <a:cxnLst/>
            <a:rect l="l" t="t" r="r" b="b"/>
            <a:pathLst>
              <a:path w="972775" h="1244247">
                <a:moveTo>
                  <a:pt x="0" y="0"/>
                </a:moveTo>
                <a:lnTo>
                  <a:pt x="972775" y="0"/>
                </a:lnTo>
                <a:lnTo>
                  <a:pt x="972775" y="1244247"/>
                </a:lnTo>
                <a:lnTo>
                  <a:pt x="0" y="12442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191796" y="-1340756"/>
            <a:ext cx="4135007" cy="4135007"/>
          </a:xfrm>
          <a:custGeom>
            <a:avLst/>
            <a:gdLst/>
            <a:ahLst/>
            <a:cxnLst/>
            <a:rect l="l" t="t" r="r" b="b"/>
            <a:pathLst>
              <a:path w="4135007" h="4135007">
                <a:moveTo>
                  <a:pt x="0" y="0"/>
                </a:moveTo>
                <a:lnTo>
                  <a:pt x="4135008" y="0"/>
                </a:lnTo>
                <a:lnTo>
                  <a:pt x="4135008" y="4135007"/>
                </a:lnTo>
                <a:lnTo>
                  <a:pt x="0" y="413500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6483308" y="200985"/>
            <a:ext cx="2343234" cy="2036483"/>
          </a:xfrm>
          <a:custGeom>
            <a:avLst/>
            <a:gdLst/>
            <a:ahLst/>
            <a:cxnLst/>
            <a:rect l="l" t="t" r="r" b="b"/>
            <a:pathLst>
              <a:path w="2343234" h="2036483">
                <a:moveTo>
                  <a:pt x="0" y="0"/>
                </a:moveTo>
                <a:lnTo>
                  <a:pt x="2343233" y="0"/>
                </a:lnTo>
                <a:lnTo>
                  <a:pt x="2343233" y="2036483"/>
                </a:lnTo>
                <a:lnTo>
                  <a:pt x="0" y="203648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97662" y="-324778"/>
            <a:ext cx="810079" cy="1051525"/>
          </a:xfrm>
          <a:custGeom>
            <a:avLst/>
            <a:gdLst/>
            <a:ahLst/>
            <a:cxnLst/>
            <a:rect l="l" t="t" r="r" b="b"/>
            <a:pathLst>
              <a:path w="810079" h="1051525">
                <a:moveTo>
                  <a:pt x="0" y="0"/>
                </a:moveTo>
                <a:lnTo>
                  <a:pt x="810079" y="0"/>
                </a:lnTo>
                <a:lnTo>
                  <a:pt x="810079" y="1051525"/>
                </a:lnTo>
                <a:lnTo>
                  <a:pt x="0" y="105152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4606642" y="8895023"/>
            <a:ext cx="810079" cy="1051525"/>
          </a:xfrm>
          <a:custGeom>
            <a:avLst/>
            <a:gdLst/>
            <a:ahLst/>
            <a:cxnLst/>
            <a:rect l="l" t="t" r="r" b="b"/>
            <a:pathLst>
              <a:path w="810079" h="1051525">
                <a:moveTo>
                  <a:pt x="0" y="0"/>
                </a:moveTo>
                <a:lnTo>
                  <a:pt x="810079" y="0"/>
                </a:lnTo>
                <a:lnTo>
                  <a:pt x="810079" y="1051525"/>
                </a:lnTo>
                <a:lnTo>
                  <a:pt x="0" y="105152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2232386" y="733425"/>
            <a:ext cx="13373787" cy="5248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0"/>
              </a:lnSpc>
            </a:pPr>
            <a:r>
              <a:rPr lang="en-US" sz="15000">
                <a:solidFill>
                  <a:srgbClr val="537122"/>
                </a:solidFill>
                <a:latin typeface="Lilita One"/>
                <a:ea typeface="Lilita One"/>
                <a:cs typeface="Lilita One"/>
                <a:sym typeface="Lilita One"/>
              </a:rPr>
              <a:t>PATITAS PERDIDAS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740682" y="5854593"/>
            <a:ext cx="9957543" cy="37973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35"/>
              </a:lnSpc>
            </a:pPr>
            <a:r>
              <a:rPr lang="en-US" sz="2800" b="1" dirty="0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Plataforma web para el reporte y búsqueda de mascotas extraviadas en Bogotá D.C</a:t>
            </a:r>
            <a:r>
              <a:rPr lang="en-US" sz="1954" b="1" dirty="0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.</a:t>
            </a:r>
          </a:p>
          <a:p>
            <a:pPr algn="ctr">
              <a:lnSpc>
                <a:spcPts val="2735"/>
              </a:lnSpc>
            </a:pPr>
            <a:endParaRPr lang="en-US" sz="1954" b="1" dirty="0">
              <a:solidFill>
                <a:srgbClr val="000000"/>
              </a:solidFill>
              <a:latin typeface="TT Norms Bold"/>
              <a:ea typeface="TT Norms Bold"/>
              <a:cs typeface="TT Norms Bold"/>
              <a:sym typeface="TT Norms Bold"/>
            </a:endParaRPr>
          </a:p>
          <a:p>
            <a:pPr lvl="1">
              <a:lnSpc>
                <a:spcPts val="2735"/>
              </a:lnSpc>
            </a:pPr>
            <a:r>
              <a:rPr lang="en-US" sz="1954" b="1" dirty="0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Integrantes:</a:t>
            </a:r>
          </a:p>
          <a:p>
            <a:pPr lvl="2">
              <a:lnSpc>
                <a:spcPts val="2735"/>
              </a:lnSpc>
            </a:pPr>
            <a:r>
              <a:rPr lang="en-US" sz="1954" b="1" dirty="0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Angel Carrillo</a:t>
            </a:r>
          </a:p>
          <a:p>
            <a:pPr lvl="2">
              <a:lnSpc>
                <a:spcPts val="2735"/>
              </a:lnSpc>
            </a:pPr>
            <a:r>
              <a:rPr lang="en-US" sz="1954" b="1" dirty="0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Kevin Riaño</a:t>
            </a:r>
          </a:p>
          <a:p>
            <a:pPr lvl="2">
              <a:lnSpc>
                <a:spcPts val="2735"/>
              </a:lnSpc>
            </a:pPr>
            <a:r>
              <a:rPr lang="en-US" sz="1954" b="1" dirty="0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Jose Pitalua</a:t>
            </a:r>
          </a:p>
          <a:p>
            <a:pPr lvl="2">
              <a:lnSpc>
                <a:spcPts val="2735"/>
              </a:lnSpc>
            </a:pPr>
            <a:r>
              <a:rPr lang="en-US" sz="1954" b="1" dirty="0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Gabriel Rodriguez</a:t>
            </a:r>
          </a:p>
          <a:p>
            <a:pPr algn="l">
              <a:lnSpc>
                <a:spcPts val="2735"/>
              </a:lnSpc>
            </a:pPr>
            <a:endParaRPr lang="en-US" sz="1954" b="1" dirty="0">
              <a:solidFill>
                <a:srgbClr val="000000"/>
              </a:solidFill>
              <a:latin typeface="TT Norms Bold"/>
              <a:ea typeface="TT Norms Bold"/>
              <a:cs typeface="TT Norms Bold"/>
              <a:sym typeface="TT Norms Bold"/>
            </a:endParaRPr>
          </a:p>
          <a:p>
            <a:pPr algn="l">
              <a:lnSpc>
                <a:spcPts val="2735"/>
              </a:lnSpc>
            </a:pPr>
            <a:r>
              <a:rPr lang="en-US" sz="1954" b="1" dirty="0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ADSO, SENA</a:t>
            </a:r>
          </a:p>
          <a:p>
            <a:pPr algn="l">
              <a:lnSpc>
                <a:spcPts val="2735"/>
              </a:lnSpc>
            </a:pPr>
            <a:endParaRPr lang="en-US" sz="1954" b="1" dirty="0">
              <a:solidFill>
                <a:srgbClr val="000000"/>
              </a:solidFill>
              <a:latin typeface="TT Norms Bold"/>
              <a:ea typeface="TT Norms Bold"/>
              <a:cs typeface="TT Norms Bold"/>
              <a:sym typeface="TT Norms 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6913821" cy="4114800"/>
          </a:xfrm>
          <a:custGeom>
            <a:avLst/>
            <a:gdLst/>
            <a:ahLst/>
            <a:cxnLst/>
            <a:rect l="l" t="t" r="r" b="b"/>
            <a:pathLst>
              <a:path w="6913821" h="4114800">
                <a:moveTo>
                  <a:pt x="0" y="0"/>
                </a:moveTo>
                <a:lnTo>
                  <a:pt x="6913821" y="0"/>
                </a:lnTo>
                <a:lnTo>
                  <a:pt x="691382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2569708">
            <a:off x="-195070" y="689565"/>
            <a:ext cx="1914908" cy="3522405"/>
          </a:xfrm>
          <a:custGeom>
            <a:avLst/>
            <a:gdLst/>
            <a:ahLst/>
            <a:cxnLst/>
            <a:rect l="l" t="t" r="r" b="b"/>
            <a:pathLst>
              <a:path w="1914908" h="3522405">
                <a:moveTo>
                  <a:pt x="0" y="0"/>
                </a:moveTo>
                <a:lnTo>
                  <a:pt x="1914907" y="0"/>
                </a:lnTo>
                <a:lnTo>
                  <a:pt x="1914907" y="3522405"/>
                </a:lnTo>
                <a:lnTo>
                  <a:pt x="0" y="35224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1374179" y="6172200"/>
            <a:ext cx="6913821" cy="4114800"/>
          </a:xfrm>
          <a:custGeom>
            <a:avLst/>
            <a:gdLst/>
            <a:ahLst/>
            <a:cxnLst/>
            <a:rect l="l" t="t" r="r" b="b"/>
            <a:pathLst>
              <a:path w="6913821" h="4114800">
                <a:moveTo>
                  <a:pt x="6913821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913821" y="0"/>
                </a:lnTo>
                <a:lnTo>
                  <a:pt x="6913821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544408" y="8399971"/>
            <a:ext cx="2930897" cy="2930897"/>
          </a:xfrm>
          <a:custGeom>
            <a:avLst/>
            <a:gdLst/>
            <a:ahLst/>
            <a:cxnLst/>
            <a:rect l="l" t="t" r="r" b="b"/>
            <a:pathLst>
              <a:path w="2930897" h="2930897">
                <a:moveTo>
                  <a:pt x="0" y="0"/>
                </a:moveTo>
                <a:lnTo>
                  <a:pt x="2930897" y="0"/>
                </a:lnTo>
                <a:lnTo>
                  <a:pt x="2930897" y="2930897"/>
                </a:lnTo>
                <a:lnTo>
                  <a:pt x="0" y="29308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544408" y="8651181"/>
            <a:ext cx="2294220" cy="1993886"/>
          </a:xfrm>
          <a:custGeom>
            <a:avLst/>
            <a:gdLst/>
            <a:ahLst/>
            <a:cxnLst/>
            <a:rect l="l" t="t" r="r" b="b"/>
            <a:pathLst>
              <a:path w="2294220" h="1993886">
                <a:moveTo>
                  <a:pt x="0" y="0"/>
                </a:moveTo>
                <a:lnTo>
                  <a:pt x="2294220" y="0"/>
                </a:lnTo>
                <a:lnTo>
                  <a:pt x="2294220" y="1993885"/>
                </a:lnTo>
                <a:lnTo>
                  <a:pt x="0" y="19938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1724017" flipH="1">
            <a:off x="16555772" y="6096708"/>
            <a:ext cx="1904654" cy="3503543"/>
          </a:xfrm>
          <a:custGeom>
            <a:avLst/>
            <a:gdLst/>
            <a:ahLst/>
            <a:cxnLst/>
            <a:rect l="l" t="t" r="r" b="b"/>
            <a:pathLst>
              <a:path w="1904654" h="3503543">
                <a:moveTo>
                  <a:pt x="1904653" y="0"/>
                </a:moveTo>
                <a:lnTo>
                  <a:pt x="0" y="0"/>
                </a:lnTo>
                <a:lnTo>
                  <a:pt x="0" y="3503544"/>
                </a:lnTo>
                <a:lnTo>
                  <a:pt x="1904653" y="3503544"/>
                </a:lnTo>
                <a:lnTo>
                  <a:pt x="190465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5890365">
            <a:off x="17238110" y="8787417"/>
            <a:ext cx="970351" cy="1784927"/>
          </a:xfrm>
          <a:custGeom>
            <a:avLst/>
            <a:gdLst/>
            <a:ahLst/>
            <a:cxnLst/>
            <a:rect l="l" t="t" r="r" b="b"/>
            <a:pathLst>
              <a:path w="970351" h="1784927">
                <a:moveTo>
                  <a:pt x="0" y="0"/>
                </a:moveTo>
                <a:lnTo>
                  <a:pt x="970351" y="0"/>
                </a:lnTo>
                <a:lnTo>
                  <a:pt x="970351" y="1784927"/>
                </a:lnTo>
                <a:lnTo>
                  <a:pt x="0" y="17849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10688091">
            <a:off x="2406268" y="216322"/>
            <a:ext cx="962496" cy="1231100"/>
          </a:xfrm>
          <a:custGeom>
            <a:avLst/>
            <a:gdLst/>
            <a:ahLst/>
            <a:cxnLst/>
            <a:rect l="l" t="t" r="r" b="b"/>
            <a:pathLst>
              <a:path w="962496" h="1231100">
                <a:moveTo>
                  <a:pt x="0" y="0"/>
                </a:moveTo>
                <a:lnTo>
                  <a:pt x="962496" y="0"/>
                </a:lnTo>
                <a:lnTo>
                  <a:pt x="962496" y="1231100"/>
                </a:lnTo>
                <a:lnTo>
                  <a:pt x="0" y="12311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267603">
            <a:off x="15463627" y="7370994"/>
            <a:ext cx="972775" cy="1244247"/>
          </a:xfrm>
          <a:custGeom>
            <a:avLst/>
            <a:gdLst/>
            <a:ahLst/>
            <a:cxnLst/>
            <a:rect l="l" t="t" r="r" b="b"/>
            <a:pathLst>
              <a:path w="972775" h="1244247">
                <a:moveTo>
                  <a:pt x="0" y="0"/>
                </a:moveTo>
                <a:lnTo>
                  <a:pt x="972775" y="0"/>
                </a:lnTo>
                <a:lnTo>
                  <a:pt x="972775" y="1244247"/>
                </a:lnTo>
                <a:lnTo>
                  <a:pt x="0" y="12442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191796" y="-1340756"/>
            <a:ext cx="4135007" cy="4135007"/>
          </a:xfrm>
          <a:custGeom>
            <a:avLst/>
            <a:gdLst/>
            <a:ahLst/>
            <a:cxnLst/>
            <a:rect l="l" t="t" r="r" b="b"/>
            <a:pathLst>
              <a:path w="4135007" h="4135007">
                <a:moveTo>
                  <a:pt x="0" y="0"/>
                </a:moveTo>
                <a:lnTo>
                  <a:pt x="4135008" y="0"/>
                </a:lnTo>
                <a:lnTo>
                  <a:pt x="4135008" y="4135007"/>
                </a:lnTo>
                <a:lnTo>
                  <a:pt x="0" y="413500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6483308" y="200985"/>
            <a:ext cx="2343234" cy="2036483"/>
          </a:xfrm>
          <a:custGeom>
            <a:avLst/>
            <a:gdLst/>
            <a:ahLst/>
            <a:cxnLst/>
            <a:rect l="l" t="t" r="r" b="b"/>
            <a:pathLst>
              <a:path w="2343234" h="2036483">
                <a:moveTo>
                  <a:pt x="0" y="0"/>
                </a:moveTo>
                <a:lnTo>
                  <a:pt x="2343233" y="0"/>
                </a:lnTo>
                <a:lnTo>
                  <a:pt x="2343233" y="2036483"/>
                </a:lnTo>
                <a:lnTo>
                  <a:pt x="0" y="203648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97662" y="-324778"/>
            <a:ext cx="810079" cy="1051525"/>
          </a:xfrm>
          <a:custGeom>
            <a:avLst/>
            <a:gdLst/>
            <a:ahLst/>
            <a:cxnLst/>
            <a:rect l="l" t="t" r="r" b="b"/>
            <a:pathLst>
              <a:path w="810079" h="1051525">
                <a:moveTo>
                  <a:pt x="0" y="0"/>
                </a:moveTo>
                <a:lnTo>
                  <a:pt x="810079" y="0"/>
                </a:lnTo>
                <a:lnTo>
                  <a:pt x="810079" y="1051525"/>
                </a:lnTo>
                <a:lnTo>
                  <a:pt x="0" y="105152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4606642" y="8895023"/>
            <a:ext cx="810079" cy="1051525"/>
          </a:xfrm>
          <a:custGeom>
            <a:avLst/>
            <a:gdLst/>
            <a:ahLst/>
            <a:cxnLst/>
            <a:rect l="l" t="t" r="r" b="b"/>
            <a:pathLst>
              <a:path w="810079" h="1051525">
                <a:moveTo>
                  <a:pt x="0" y="0"/>
                </a:moveTo>
                <a:lnTo>
                  <a:pt x="810079" y="0"/>
                </a:lnTo>
                <a:lnTo>
                  <a:pt x="810079" y="1051525"/>
                </a:lnTo>
                <a:lnTo>
                  <a:pt x="0" y="105152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2457106" y="1573893"/>
            <a:ext cx="13373787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537122"/>
                </a:solidFill>
                <a:latin typeface="Lilita One"/>
                <a:ea typeface="Lilita One"/>
                <a:cs typeface="Lilita One"/>
                <a:sym typeface="Lilita One"/>
              </a:rPr>
              <a:t>OBJETIVO GENERAL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158470" y="3543773"/>
            <a:ext cx="11971059" cy="47139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183"/>
              </a:lnSpc>
            </a:pPr>
            <a:r>
              <a:rPr lang="en-US" sz="4416" dirty="0" err="1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Desarrollar</a:t>
            </a:r>
            <a:r>
              <a:rPr lang="en-US" sz="4416" dirty="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 una </a:t>
            </a:r>
            <a:r>
              <a:rPr lang="en-US" sz="4416" dirty="0" err="1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plataforma</a:t>
            </a:r>
            <a:r>
              <a:rPr lang="en-US" sz="4416" dirty="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 digital que </a:t>
            </a:r>
            <a:r>
              <a:rPr lang="en-US" sz="4416" dirty="0" err="1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permita</a:t>
            </a:r>
            <a:r>
              <a:rPr lang="en-US" sz="4416" dirty="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 el reporte y la consulta de mascotas </a:t>
            </a:r>
            <a:r>
              <a:rPr lang="en-US" sz="4416" dirty="0" err="1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perdidas</a:t>
            </a:r>
            <a:r>
              <a:rPr lang="en-US" sz="4416" dirty="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 en Bogotá D.C., </a:t>
            </a:r>
            <a:r>
              <a:rPr lang="en-US" sz="4416" dirty="0" err="1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utilizando</a:t>
            </a:r>
            <a:r>
              <a:rPr lang="en-US" sz="4416" dirty="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 </a:t>
            </a:r>
            <a:r>
              <a:rPr lang="en-US" sz="4416" dirty="0" err="1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herramientas</a:t>
            </a:r>
            <a:r>
              <a:rPr lang="en-US" sz="4416" dirty="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 de </a:t>
            </a:r>
            <a:r>
              <a:rPr lang="en-US" sz="4416" dirty="0" err="1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geolocalización</a:t>
            </a:r>
            <a:r>
              <a:rPr lang="en-US" sz="4416" dirty="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 para </a:t>
            </a:r>
            <a:r>
              <a:rPr lang="en-US" sz="4416" dirty="0" err="1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mejorar</a:t>
            </a:r>
            <a:r>
              <a:rPr lang="en-US" sz="4416" dirty="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 la </a:t>
            </a:r>
            <a:r>
              <a:rPr lang="en-US" sz="4416" dirty="0" err="1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precisión</a:t>
            </a:r>
            <a:r>
              <a:rPr lang="en-US" sz="4416" dirty="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 de la </a:t>
            </a:r>
            <a:r>
              <a:rPr lang="en-US" sz="4416" dirty="0" err="1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información</a:t>
            </a:r>
            <a:r>
              <a:rPr lang="en-US" sz="4416" dirty="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 y </a:t>
            </a:r>
            <a:r>
              <a:rPr lang="en-US" sz="4416" dirty="0" err="1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apoyar</a:t>
            </a:r>
            <a:r>
              <a:rPr lang="en-US" sz="4416" dirty="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 </a:t>
            </a:r>
            <a:r>
              <a:rPr lang="en-US" sz="4416" dirty="0" err="1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su</a:t>
            </a:r>
            <a:r>
              <a:rPr lang="en-US" sz="4416" dirty="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 </a:t>
            </a:r>
            <a:r>
              <a:rPr lang="en-US" sz="4416" dirty="0" err="1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recuperación</a:t>
            </a:r>
            <a:r>
              <a:rPr lang="en-US" sz="4416" dirty="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31622"/>
            <a:ext cx="6913821" cy="4114800"/>
          </a:xfrm>
          <a:custGeom>
            <a:avLst/>
            <a:gdLst/>
            <a:ahLst/>
            <a:cxnLst/>
            <a:rect l="l" t="t" r="r" b="b"/>
            <a:pathLst>
              <a:path w="6913821" h="4114800">
                <a:moveTo>
                  <a:pt x="0" y="0"/>
                </a:moveTo>
                <a:lnTo>
                  <a:pt x="6913821" y="0"/>
                </a:lnTo>
                <a:lnTo>
                  <a:pt x="691382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 dirty="0"/>
          </a:p>
        </p:txBody>
      </p:sp>
      <p:sp>
        <p:nvSpPr>
          <p:cNvPr id="3" name="Freeform 3"/>
          <p:cNvSpPr/>
          <p:nvPr/>
        </p:nvSpPr>
        <p:spPr>
          <a:xfrm rot="2569708">
            <a:off x="-283208" y="685609"/>
            <a:ext cx="1914908" cy="3522405"/>
          </a:xfrm>
          <a:custGeom>
            <a:avLst/>
            <a:gdLst/>
            <a:ahLst/>
            <a:cxnLst/>
            <a:rect l="l" t="t" r="r" b="b"/>
            <a:pathLst>
              <a:path w="1914908" h="3522405">
                <a:moveTo>
                  <a:pt x="0" y="0"/>
                </a:moveTo>
                <a:lnTo>
                  <a:pt x="1914907" y="0"/>
                </a:lnTo>
                <a:lnTo>
                  <a:pt x="1914907" y="3522405"/>
                </a:lnTo>
                <a:lnTo>
                  <a:pt x="0" y="35224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1374179" y="6512166"/>
            <a:ext cx="6913821" cy="4114800"/>
          </a:xfrm>
          <a:custGeom>
            <a:avLst/>
            <a:gdLst/>
            <a:ahLst/>
            <a:cxnLst/>
            <a:rect l="l" t="t" r="r" b="b"/>
            <a:pathLst>
              <a:path w="6913821" h="4114800">
                <a:moveTo>
                  <a:pt x="6913821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913821" y="0"/>
                </a:lnTo>
                <a:lnTo>
                  <a:pt x="6913821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544408" y="8399971"/>
            <a:ext cx="2930897" cy="2930897"/>
          </a:xfrm>
          <a:custGeom>
            <a:avLst/>
            <a:gdLst/>
            <a:ahLst/>
            <a:cxnLst/>
            <a:rect l="l" t="t" r="r" b="b"/>
            <a:pathLst>
              <a:path w="2930897" h="2930897">
                <a:moveTo>
                  <a:pt x="0" y="0"/>
                </a:moveTo>
                <a:lnTo>
                  <a:pt x="2930897" y="0"/>
                </a:lnTo>
                <a:lnTo>
                  <a:pt x="2930897" y="2930897"/>
                </a:lnTo>
                <a:lnTo>
                  <a:pt x="0" y="29308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544408" y="8651181"/>
            <a:ext cx="2294220" cy="1993886"/>
          </a:xfrm>
          <a:custGeom>
            <a:avLst/>
            <a:gdLst/>
            <a:ahLst/>
            <a:cxnLst/>
            <a:rect l="l" t="t" r="r" b="b"/>
            <a:pathLst>
              <a:path w="2294220" h="1993886">
                <a:moveTo>
                  <a:pt x="0" y="0"/>
                </a:moveTo>
                <a:lnTo>
                  <a:pt x="2294220" y="0"/>
                </a:lnTo>
                <a:lnTo>
                  <a:pt x="2294220" y="1993885"/>
                </a:lnTo>
                <a:lnTo>
                  <a:pt x="0" y="19938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1724017" flipH="1">
            <a:off x="16555772" y="6096708"/>
            <a:ext cx="1904654" cy="3503543"/>
          </a:xfrm>
          <a:custGeom>
            <a:avLst/>
            <a:gdLst/>
            <a:ahLst/>
            <a:cxnLst/>
            <a:rect l="l" t="t" r="r" b="b"/>
            <a:pathLst>
              <a:path w="1904654" h="3503543">
                <a:moveTo>
                  <a:pt x="1904653" y="0"/>
                </a:moveTo>
                <a:lnTo>
                  <a:pt x="0" y="0"/>
                </a:lnTo>
                <a:lnTo>
                  <a:pt x="0" y="3503544"/>
                </a:lnTo>
                <a:lnTo>
                  <a:pt x="1904653" y="3503544"/>
                </a:lnTo>
                <a:lnTo>
                  <a:pt x="190465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5890365">
            <a:off x="17238110" y="8787417"/>
            <a:ext cx="970351" cy="1784927"/>
          </a:xfrm>
          <a:custGeom>
            <a:avLst/>
            <a:gdLst/>
            <a:ahLst/>
            <a:cxnLst/>
            <a:rect l="l" t="t" r="r" b="b"/>
            <a:pathLst>
              <a:path w="970351" h="1784927">
                <a:moveTo>
                  <a:pt x="0" y="0"/>
                </a:moveTo>
                <a:lnTo>
                  <a:pt x="970351" y="0"/>
                </a:lnTo>
                <a:lnTo>
                  <a:pt x="970351" y="1784927"/>
                </a:lnTo>
                <a:lnTo>
                  <a:pt x="0" y="17849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10688091">
            <a:off x="2406268" y="216322"/>
            <a:ext cx="962496" cy="1231100"/>
          </a:xfrm>
          <a:custGeom>
            <a:avLst/>
            <a:gdLst/>
            <a:ahLst/>
            <a:cxnLst/>
            <a:rect l="l" t="t" r="r" b="b"/>
            <a:pathLst>
              <a:path w="962496" h="1231100">
                <a:moveTo>
                  <a:pt x="0" y="0"/>
                </a:moveTo>
                <a:lnTo>
                  <a:pt x="962496" y="0"/>
                </a:lnTo>
                <a:lnTo>
                  <a:pt x="962496" y="1231100"/>
                </a:lnTo>
                <a:lnTo>
                  <a:pt x="0" y="12311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267603">
            <a:off x="15463627" y="7370994"/>
            <a:ext cx="972775" cy="1244247"/>
          </a:xfrm>
          <a:custGeom>
            <a:avLst/>
            <a:gdLst/>
            <a:ahLst/>
            <a:cxnLst/>
            <a:rect l="l" t="t" r="r" b="b"/>
            <a:pathLst>
              <a:path w="972775" h="1244247">
                <a:moveTo>
                  <a:pt x="0" y="0"/>
                </a:moveTo>
                <a:lnTo>
                  <a:pt x="972775" y="0"/>
                </a:lnTo>
                <a:lnTo>
                  <a:pt x="972775" y="1244247"/>
                </a:lnTo>
                <a:lnTo>
                  <a:pt x="0" y="12442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191796" y="-1340756"/>
            <a:ext cx="4135007" cy="4135007"/>
          </a:xfrm>
          <a:custGeom>
            <a:avLst/>
            <a:gdLst/>
            <a:ahLst/>
            <a:cxnLst/>
            <a:rect l="l" t="t" r="r" b="b"/>
            <a:pathLst>
              <a:path w="4135007" h="4135007">
                <a:moveTo>
                  <a:pt x="0" y="0"/>
                </a:moveTo>
                <a:lnTo>
                  <a:pt x="4135008" y="0"/>
                </a:lnTo>
                <a:lnTo>
                  <a:pt x="4135008" y="4135007"/>
                </a:lnTo>
                <a:lnTo>
                  <a:pt x="0" y="413500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6483308" y="200985"/>
            <a:ext cx="2343234" cy="2036483"/>
          </a:xfrm>
          <a:custGeom>
            <a:avLst/>
            <a:gdLst/>
            <a:ahLst/>
            <a:cxnLst/>
            <a:rect l="l" t="t" r="r" b="b"/>
            <a:pathLst>
              <a:path w="2343234" h="2036483">
                <a:moveTo>
                  <a:pt x="0" y="0"/>
                </a:moveTo>
                <a:lnTo>
                  <a:pt x="2343233" y="0"/>
                </a:lnTo>
                <a:lnTo>
                  <a:pt x="2343233" y="2036483"/>
                </a:lnTo>
                <a:lnTo>
                  <a:pt x="0" y="203648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97662" y="-324778"/>
            <a:ext cx="810079" cy="1051525"/>
          </a:xfrm>
          <a:custGeom>
            <a:avLst/>
            <a:gdLst/>
            <a:ahLst/>
            <a:cxnLst/>
            <a:rect l="l" t="t" r="r" b="b"/>
            <a:pathLst>
              <a:path w="810079" h="1051525">
                <a:moveTo>
                  <a:pt x="0" y="0"/>
                </a:moveTo>
                <a:lnTo>
                  <a:pt x="810079" y="0"/>
                </a:lnTo>
                <a:lnTo>
                  <a:pt x="810079" y="1051525"/>
                </a:lnTo>
                <a:lnTo>
                  <a:pt x="0" y="105152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4606642" y="8895023"/>
            <a:ext cx="810079" cy="1051525"/>
          </a:xfrm>
          <a:custGeom>
            <a:avLst/>
            <a:gdLst/>
            <a:ahLst/>
            <a:cxnLst/>
            <a:rect l="l" t="t" r="r" b="b"/>
            <a:pathLst>
              <a:path w="810079" h="1051525">
                <a:moveTo>
                  <a:pt x="0" y="0"/>
                </a:moveTo>
                <a:lnTo>
                  <a:pt x="810079" y="0"/>
                </a:lnTo>
                <a:lnTo>
                  <a:pt x="810079" y="1051525"/>
                </a:lnTo>
                <a:lnTo>
                  <a:pt x="0" y="105152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grpSp>
        <p:nvGrpSpPr>
          <p:cNvPr id="15" name="Group 15"/>
          <p:cNvGrpSpPr/>
          <p:nvPr/>
        </p:nvGrpSpPr>
        <p:grpSpPr>
          <a:xfrm>
            <a:off x="3483545" y="3039690"/>
            <a:ext cx="11403053" cy="1267838"/>
            <a:chOff x="0" y="0"/>
            <a:chExt cx="3512640" cy="39055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512640" cy="390550"/>
            </a:xfrm>
            <a:custGeom>
              <a:avLst/>
              <a:gdLst/>
              <a:ahLst/>
              <a:cxnLst/>
              <a:rect l="l" t="t" r="r" b="b"/>
              <a:pathLst>
                <a:path w="3512640" h="390550">
                  <a:moveTo>
                    <a:pt x="18331" y="0"/>
                  </a:moveTo>
                  <a:lnTo>
                    <a:pt x="3494309" y="0"/>
                  </a:lnTo>
                  <a:cubicBezTo>
                    <a:pt x="3499171" y="0"/>
                    <a:pt x="3503833" y="1931"/>
                    <a:pt x="3507271" y="5369"/>
                  </a:cubicBezTo>
                  <a:cubicBezTo>
                    <a:pt x="3510709" y="8807"/>
                    <a:pt x="3512640" y="13469"/>
                    <a:pt x="3512640" y="18331"/>
                  </a:cubicBezTo>
                  <a:lnTo>
                    <a:pt x="3512640" y="372219"/>
                  </a:lnTo>
                  <a:cubicBezTo>
                    <a:pt x="3512640" y="382343"/>
                    <a:pt x="3504433" y="390550"/>
                    <a:pt x="3494309" y="390550"/>
                  </a:cubicBezTo>
                  <a:lnTo>
                    <a:pt x="18331" y="390550"/>
                  </a:lnTo>
                  <a:cubicBezTo>
                    <a:pt x="13469" y="390550"/>
                    <a:pt x="8807" y="388618"/>
                    <a:pt x="5369" y="385181"/>
                  </a:cubicBezTo>
                  <a:cubicBezTo>
                    <a:pt x="1931" y="381743"/>
                    <a:pt x="0" y="377080"/>
                    <a:pt x="0" y="372219"/>
                  </a:cubicBezTo>
                  <a:lnTo>
                    <a:pt x="0" y="18331"/>
                  </a:lnTo>
                  <a:cubicBezTo>
                    <a:pt x="0" y="8207"/>
                    <a:pt x="8207" y="0"/>
                    <a:pt x="18331" y="0"/>
                  </a:cubicBezTo>
                  <a:close/>
                </a:path>
              </a:pathLst>
            </a:custGeom>
            <a:solidFill>
              <a:srgbClr val="C2DDA8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3512640" cy="428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2644135" y="3118283"/>
            <a:ext cx="1169506" cy="1110653"/>
            <a:chOff x="0" y="0"/>
            <a:chExt cx="360259" cy="34213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60259" cy="342130"/>
            </a:xfrm>
            <a:custGeom>
              <a:avLst/>
              <a:gdLst/>
              <a:ahLst/>
              <a:cxnLst/>
              <a:rect l="l" t="t" r="r" b="b"/>
              <a:pathLst>
                <a:path w="360259" h="342130">
                  <a:moveTo>
                    <a:pt x="171065" y="0"/>
                  </a:moveTo>
                  <a:lnTo>
                    <a:pt x="189194" y="0"/>
                  </a:lnTo>
                  <a:cubicBezTo>
                    <a:pt x="234563" y="0"/>
                    <a:pt x="278074" y="18023"/>
                    <a:pt x="310155" y="50104"/>
                  </a:cubicBezTo>
                  <a:cubicBezTo>
                    <a:pt x="342236" y="82185"/>
                    <a:pt x="360259" y="125696"/>
                    <a:pt x="360259" y="171065"/>
                  </a:cubicBezTo>
                  <a:lnTo>
                    <a:pt x="360259" y="171065"/>
                  </a:lnTo>
                  <a:cubicBezTo>
                    <a:pt x="360259" y="216434"/>
                    <a:pt x="342236" y="259945"/>
                    <a:pt x="310155" y="292026"/>
                  </a:cubicBezTo>
                  <a:cubicBezTo>
                    <a:pt x="278074" y="324107"/>
                    <a:pt x="234563" y="342130"/>
                    <a:pt x="189194" y="342130"/>
                  </a:cubicBezTo>
                  <a:lnTo>
                    <a:pt x="171065" y="342130"/>
                  </a:lnTo>
                  <a:cubicBezTo>
                    <a:pt x="125696" y="342130"/>
                    <a:pt x="82185" y="324107"/>
                    <a:pt x="50104" y="292026"/>
                  </a:cubicBezTo>
                  <a:cubicBezTo>
                    <a:pt x="18023" y="259945"/>
                    <a:pt x="0" y="216434"/>
                    <a:pt x="0" y="171065"/>
                  </a:cubicBezTo>
                  <a:lnTo>
                    <a:pt x="0" y="171065"/>
                  </a:lnTo>
                  <a:cubicBezTo>
                    <a:pt x="0" y="125696"/>
                    <a:pt x="18023" y="82185"/>
                    <a:pt x="50104" y="50104"/>
                  </a:cubicBezTo>
                  <a:cubicBezTo>
                    <a:pt x="82185" y="18023"/>
                    <a:pt x="125696" y="0"/>
                    <a:pt x="171065" y="0"/>
                  </a:cubicBezTo>
                  <a:close/>
                </a:path>
              </a:pathLst>
            </a:custGeom>
            <a:solidFill>
              <a:srgbClr val="7D9851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360259" cy="3802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2457106" y="168297"/>
            <a:ext cx="13373787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dirty="0">
                <a:solidFill>
                  <a:srgbClr val="537122"/>
                </a:solidFill>
                <a:latin typeface="Lilita One"/>
                <a:ea typeface="Lilita One"/>
                <a:cs typeface="Lilita One"/>
                <a:sym typeface="Lilita One"/>
              </a:rPr>
              <a:t>OBJETIVOS ESPECÍFICOS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268593" y="3277616"/>
            <a:ext cx="11375272" cy="632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294"/>
              </a:lnSpc>
            </a:pPr>
            <a:r>
              <a:rPr lang="en-US" sz="3781" dirty="0" err="1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Permitir</a:t>
            </a:r>
            <a:r>
              <a:rPr lang="en-US" sz="3781" dirty="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 el </a:t>
            </a:r>
            <a:r>
              <a:rPr lang="en-US" sz="3781" dirty="0" err="1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registro</a:t>
            </a:r>
            <a:r>
              <a:rPr lang="en-US" sz="3781" dirty="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 y </a:t>
            </a:r>
            <a:r>
              <a:rPr lang="en-US" sz="3781" dirty="0" err="1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gestión</a:t>
            </a:r>
            <a:r>
              <a:rPr lang="en-US" sz="3781" dirty="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 de </a:t>
            </a:r>
            <a:r>
              <a:rPr lang="en-US" sz="3781" dirty="0" err="1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clientes</a:t>
            </a:r>
            <a:r>
              <a:rPr lang="en-US" sz="3781" dirty="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861419" y="3255174"/>
            <a:ext cx="1147293" cy="7513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179"/>
              </a:lnSpc>
            </a:pPr>
            <a:r>
              <a:rPr lang="en-US" sz="4414">
                <a:solidFill>
                  <a:srgbClr val="FFFFFF"/>
                </a:solidFill>
                <a:latin typeface="Comic Sans"/>
                <a:ea typeface="Comic Sans"/>
                <a:cs typeface="Comic Sans"/>
                <a:sym typeface="Comic Sans"/>
              </a:rPr>
              <a:t>1.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3483545" y="4407252"/>
            <a:ext cx="11403053" cy="1267838"/>
            <a:chOff x="0" y="0"/>
            <a:chExt cx="3512640" cy="39055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3512640" cy="390550"/>
            </a:xfrm>
            <a:custGeom>
              <a:avLst/>
              <a:gdLst/>
              <a:ahLst/>
              <a:cxnLst/>
              <a:rect l="l" t="t" r="r" b="b"/>
              <a:pathLst>
                <a:path w="3512640" h="390550">
                  <a:moveTo>
                    <a:pt x="18331" y="0"/>
                  </a:moveTo>
                  <a:lnTo>
                    <a:pt x="3494309" y="0"/>
                  </a:lnTo>
                  <a:cubicBezTo>
                    <a:pt x="3499171" y="0"/>
                    <a:pt x="3503833" y="1931"/>
                    <a:pt x="3507271" y="5369"/>
                  </a:cubicBezTo>
                  <a:cubicBezTo>
                    <a:pt x="3510709" y="8807"/>
                    <a:pt x="3512640" y="13469"/>
                    <a:pt x="3512640" y="18331"/>
                  </a:cubicBezTo>
                  <a:lnTo>
                    <a:pt x="3512640" y="372219"/>
                  </a:lnTo>
                  <a:cubicBezTo>
                    <a:pt x="3512640" y="382343"/>
                    <a:pt x="3504433" y="390550"/>
                    <a:pt x="3494309" y="390550"/>
                  </a:cubicBezTo>
                  <a:lnTo>
                    <a:pt x="18331" y="390550"/>
                  </a:lnTo>
                  <a:cubicBezTo>
                    <a:pt x="13469" y="390550"/>
                    <a:pt x="8807" y="388618"/>
                    <a:pt x="5369" y="385181"/>
                  </a:cubicBezTo>
                  <a:cubicBezTo>
                    <a:pt x="1931" y="381743"/>
                    <a:pt x="0" y="377080"/>
                    <a:pt x="0" y="372219"/>
                  </a:cubicBezTo>
                  <a:lnTo>
                    <a:pt x="0" y="18331"/>
                  </a:lnTo>
                  <a:cubicBezTo>
                    <a:pt x="0" y="8207"/>
                    <a:pt x="8207" y="0"/>
                    <a:pt x="18331" y="0"/>
                  </a:cubicBezTo>
                  <a:close/>
                </a:path>
              </a:pathLst>
            </a:custGeom>
            <a:solidFill>
              <a:srgbClr val="C2DDA8"/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3512640" cy="428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2644135" y="4485844"/>
            <a:ext cx="1169506" cy="1110653"/>
            <a:chOff x="0" y="0"/>
            <a:chExt cx="360259" cy="34213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360259" cy="342130"/>
            </a:xfrm>
            <a:custGeom>
              <a:avLst/>
              <a:gdLst/>
              <a:ahLst/>
              <a:cxnLst/>
              <a:rect l="l" t="t" r="r" b="b"/>
              <a:pathLst>
                <a:path w="360259" h="342130">
                  <a:moveTo>
                    <a:pt x="171065" y="0"/>
                  </a:moveTo>
                  <a:lnTo>
                    <a:pt x="189194" y="0"/>
                  </a:lnTo>
                  <a:cubicBezTo>
                    <a:pt x="234563" y="0"/>
                    <a:pt x="278074" y="18023"/>
                    <a:pt x="310155" y="50104"/>
                  </a:cubicBezTo>
                  <a:cubicBezTo>
                    <a:pt x="342236" y="82185"/>
                    <a:pt x="360259" y="125696"/>
                    <a:pt x="360259" y="171065"/>
                  </a:cubicBezTo>
                  <a:lnTo>
                    <a:pt x="360259" y="171065"/>
                  </a:lnTo>
                  <a:cubicBezTo>
                    <a:pt x="360259" y="216434"/>
                    <a:pt x="342236" y="259945"/>
                    <a:pt x="310155" y="292026"/>
                  </a:cubicBezTo>
                  <a:cubicBezTo>
                    <a:pt x="278074" y="324107"/>
                    <a:pt x="234563" y="342130"/>
                    <a:pt x="189194" y="342130"/>
                  </a:cubicBezTo>
                  <a:lnTo>
                    <a:pt x="171065" y="342130"/>
                  </a:lnTo>
                  <a:cubicBezTo>
                    <a:pt x="125696" y="342130"/>
                    <a:pt x="82185" y="324107"/>
                    <a:pt x="50104" y="292026"/>
                  </a:cubicBezTo>
                  <a:cubicBezTo>
                    <a:pt x="18023" y="259945"/>
                    <a:pt x="0" y="216434"/>
                    <a:pt x="0" y="171065"/>
                  </a:cubicBezTo>
                  <a:lnTo>
                    <a:pt x="0" y="171065"/>
                  </a:lnTo>
                  <a:cubicBezTo>
                    <a:pt x="0" y="125696"/>
                    <a:pt x="18023" y="82185"/>
                    <a:pt x="50104" y="50104"/>
                  </a:cubicBezTo>
                  <a:cubicBezTo>
                    <a:pt x="82185" y="18023"/>
                    <a:pt x="125696" y="0"/>
                    <a:pt x="171065" y="0"/>
                  </a:cubicBezTo>
                  <a:close/>
                </a:path>
              </a:pathLst>
            </a:custGeom>
            <a:solidFill>
              <a:srgbClr val="7D9851"/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360259" cy="3802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4268593" y="4645177"/>
            <a:ext cx="11375272" cy="632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294"/>
              </a:lnSpc>
            </a:pPr>
            <a:r>
              <a:rPr lang="en-US" sz="3781" dirty="0" err="1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Facilitar</a:t>
            </a:r>
            <a:r>
              <a:rPr lang="en-US" sz="3781" dirty="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 la </a:t>
            </a:r>
            <a:r>
              <a:rPr lang="en-US" sz="3781" dirty="0" err="1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publicación</a:t>
            </a:r>
            <a:r>
              <a:rPr lang="en-US" sz="3781" dirty="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 de mascotas </a:t>
            </a:r>
            <a:r>
              <a:rPr lang="en-US" sz="3781" dirty="0" err="1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perdidas</a:t>
            </a:r>
            <a:r>
              <a:rPr lang="en-US" sz="3781" dirty="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861419" y="4622735"/>
            <a:ext cx="1147293" cy="751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179"/>
              </a:lnSpc>
            </a:pPr>
            <a:r>
              <a:rPr lang="en-US" sz="4414">
                <a:solidFill>
                  <a:srgbClr val="FFFFFF"/>
                </a:solidFill>
                <a:latin typeface="Comic Sans"/>
                <a:ea typeface="Comic Sans"/>
                <a:cs typeface="Comic Sans"/>
                <a:sym typeface="Comic Sans"/>
              </a:rPr>
              <a:t>2.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3483545" y="5769692"/>
            <a:ext cx="11403053" cy="1267838"/>
            <a:chOff x="0" y="0"/>
            <a:chExt cx="3512640" cy="39055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3512640" cy="390550"/>
            </a:xfrm>
            <a:custGeom>
              <a:avLst/>
              <a:gdLst/>
              <a:ahLst/>
              <a:cxnLst/>
              <a:rect l="l" t="t" r="r" b="b"/>
              <a:pathLst>
                <a:path w="3512640" h="390550">
                  <a:moveTo>
                    <a:pt x="18331" y="0"/>
                  </a:moveTo>
                  <a:lnTo>
                    <a:pt x="3494309" y="0"/>
                  </a:lnTo>
                  <a:cubicBezTo>
                    <a:pt x="3499171" y="0"/>
                    <a:pt x="3503833" y="1931"/>
                    <a:pt x="3507271" y="5369"/>
                  </a:cubicBezTo>
                  <a:cubicBezTo>
                    <a:pt x="3510709" y="8807"/>
                    <a:pt x="3512640" y="13469"/>
                    <a:pt x="3512640" y="18331"/>
                  </a:cubicBezTo>
                  <a:lnTo>
                    <a:pt x="3512640" y="372219"/>
                  </a:lnTo>
                  <a:cubicBezTo>
                    <a:pt x="3512640" y="382343"/>
                    <a:pt x="3504433" y="390550"/>
                    <a:pt x="3494309" y="390550"/>
                  </a:cubicBezTo>
                  <a:lnTo>
                    <a:pt x="18331" y="390550"/>
                  </a:lnTo>
                  <a:cubicBezTo>
                    <a:pt x="13469" y="390550"/>
                    <a:pt x="8807" y="388618"/>
                    <a:pt x="5369" y="385181"/>
                  </a:cubicBezTo>
                  <a:cubicBezTo>
                    <a:pt x="1931" y="381743"/>
                    <a:pt x="0" y="377080"/>
                    <a:pt x="0" y="372219"/>
                  </a:cubicBezTo>
                  <a:lnTo>
                    <a:pt x="0" y="18331"/>
                  </a:lnTo>
                  <a:cubicBezTo>
                    <a:pt x="0" y="8207"/>
                    <a:pt x="8207" y="0"/>
                    <a:pt x="18331" y="0"/>
                  </a:cubicBezTo>
                  <a:close/>
                </a:path>
              </a:pathLst>
            </a:custGeom>
            <a:solidFill>
              <a:srgbClr val="C2DDA8"/>
            </a:solidFill>
          </p:spPr>
        </p:sp>
        <p:sp>
          <p:nvSpPr>
            <p:cNvPr id="34" name="TextBox 34"/>
            <p:cNvSpPr txBox="1"/>
            <p:nvPr/>
          </p:nvSpPr>
          <p:spPr>
            <a:xfrm>
              <a:off x="0" y="-38100"/>
              <a:ext cx="3512640" cy="428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2644135" y="5848285"/>
            <a:ext cx="1169506" cy="1110653"/>
            <a:chOff x="0" y="0"/>
            <a:chExt cx="360259" cy="34213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360259" cy="342130"/>
            </a:xfrm>
            <a:custGeom>
              <a:avLst/>
              <a:gdLst/>
              <a:ahLst/>
              <a:cxnLst/>
              <a:rect l="l" t="t" r="r" b="b"/>
              <a:pathLst>
                <a:path w="360259" h="342130">
                  <a:moveTo>
                    <a:pt x="171065" y="0"/>
                  </a:moveTo>
                  <a:lnTo>
                    <a:pt x="189194" y="0"/>
                  </a:lnTo>
                  <a:cubicBezTo>
                    <a:pt x="234563" y="0"/>
                    <a:pt x="278074" y="18023"/>
                    <a:pt x="310155" y="50104"/>
                  </a:cubicBezTo>
                  <a:cubicBezTo>
                    <a:pt x="342236" y="82185"/>
                    <a:pt x="360259" y="125696"/>
                    <a:pt x="360259" y="171065"/>
                  </a:cubicBezTo>
                  <a:lnTo>
                    <a:pt x="360259" y="171065"/>
                  </a:lnTo>
                  <a:cubicBezTo>
                    <a:pt x="360259" y="216434"/>
                    <a:pt x="342236" y="259945"/>
                    <a:pt x="310155" y="292026"/>
                  </a:cubicBezTo>
                  <a:cubicBezTo>
                    <a:pt x="278074" y="324107"/>
                    <a:pt x="234563" y="342130"/>
                    <a:pt x="189194" y="342130"/>
                  </a:cubicBezTo>
                  <a:lnTo>
                    <a:pt x="171065" y="342130"/>
                  </a:lnTo>
                  <a:cubicBezTo>
                    <a:pt x="125696" y="342130"/>
                    <a:pt x="82185" y="324107"/>
                    <a:pt x="50104" y="292026"/>
                  </a:cubicBezTo>
                  <a:cubicBezTo>
                    <a:pt x="18023" y="259945"/>
                    <a:pt x="0" y="216434"/>
                    <a:pt x="0" y="171065"/>
                  </a:cubicBezTo>
                  <a:lnTo>
                    <a:pt x="0" y="171065"/>
                  </a:lnTo>
                  <a:cubicBezTo>
                    <a:pt x="0" y="125696"/>
                    <a:pt x="18023" y="82185"/>
                    <a:pt x="50104" y="50104"/>
                  </a:cubicBezTo>
                  <a:cubicBezTo>
                    <a:pt x="82185" y="18023"/>
                    <a:pt x="125696" y="0"/>
                    <a:pt x="171065" y="0"/>
                  </a:cubicBezTo>
                  <a:close/>
                </a:path>
              </a:pathLst>
            </a:custGeom>
            <a:solidFill>
              <a:srgbClr val="7D9851"/>
            </a:solidFill>
          </p:spPr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360259" cy="3802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4268593" y="6007618"/>
            <a:ext cx="11375272" cy="632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294"/>
              </a:lnSpc>
            </a:pPr>
            <a:r>
              <a:rPr lang="en-US" sz="3781" dirty="0" err="1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Implementar</a:t>
            </a:r>
            <a:r>
              <a:rPr lang="en-US" sz="3781" dirty="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 </a:t>
            </a:r>
            <a:r>
              <a:rPr lang="en-US" sz="3781" dirty="0" err="1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geolocalización</a:t>
            </a:r>
            <a:r>
              <a:rPr lang="en-US" sz="3781" dirty="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 en los </a:t>
            </a:r>
            <a:r>
              <a:rPr lang="en-US" sz="3781" dirty="0" err="1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reportes</a:t>
            </a:r>
            <a:r>
              <a:rPr lang="en-US" sz="3781" dirty="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.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2861419" y="5985176"/>
            <a:ext cx="1147293" cy="751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179"/>
              </a:lnSpc>
            </a:pPr>
            <a:r>
              <a:rPr lang="en-US" sz="4414">
                <a:solidFill>
                  <a:srgbClr val="FFFFFF"/>
                </a:solidFill>
                <a:latin typeface="Comic Sans"/>
                <a:ea typeface="Comic Sans"/>
                <a:cs typeface="Comic Sans"/>
                <a:sym typeface="Comic Sans"/>
              </a:rPr>
              <a:t>3.</a:t>
            </a:r>
          </a:p>
        </p:txBody>
      </p:sp>
      <p:grpSp>
        <p:nvGrpSpPr>
          <p:cNvPr id="40" name="Group 40"/>
          <p:cNvGrpSpPr/>
          <p:nvPr/>
        </p:nvGrpSpPr>
        <p:grpSpPr>
          <a:xfrm>
            <a:off x="3483545" y="7132133"/>
            <a:ext cx="11403053" cy="1267838"/>
            <a:chOff x="0" y="0"/>
            <a:chExt cx="3512640" cy="39055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3512640" cy="390550"/>
            </a:xfrm>
            <a:custGeom>
              <a:avLst/>
              <a:gdLst/>
              <a:ahLst/>
              <a:cxnLst/>
              <a:rect l="l" t="t" r="r" b="b"/>
              <a:pathLst>
                <a:path w="3512640" h="390550">
                  <a:moveTo>
                    <a:pt x="18331" y="0"/>
                  </a:moveTo>
                  <a:lnTo>
                    <a:pt x="3494309" y="0"/>
                  </a:lnTo>
                  <a:cubicBezTo>
                    <a:pt x="3499171" y="0"/>
                    <a:pt x="3503833" y="1931"/>
                    <a:pt x="3507271" y="5369"/>
                  </a:cubicBezTo>
                  <a:cubicBezTo>
                    <a:pt x="3510709" y="8807"/>
                    <a:pt x="3512640" y="13469"/>
                    <a:pt x="3512640" y="18331"/>
                  </a:cubicBezTo>
                  <a:lnTo>
                    <a:pt x="3512640" y="372219"/>
                  </a:lnTo>
                  <a:cubicBezTo>
                    <a:pt x="3512640" y="382343"/>
                    <a:pt x="3504433" y="390550"/>
                    <a:pt x="3494309" y="390550"/>
                  </a:cubicBezTo>
                  <a:lnTo>
                    <a:pt x="18331" y="390550"/>
                  </a:lnTo>
                  <a:cubicBezTo>
                    <a:pt x="13469" y="390550"/>
                    <a:pt x="8807" y="388618"/>
                    <a:pt x="5369" y="385181"/>
                  </a:cubicBezTo>
                  <a:cubicBezTo>
                    <a:pt x="1931" y="381743"/>
                    <a:pt x="0" y="377080"/>
                    <a:pt x="0" y="372219"/>
                  </a:cubicBezTo>
                  <a:lnTo>
                    <a:pt x="0" y="18331"/>
                  </a:lnTo>
                  <a:cubicBezTo>
                    <a:pt x="0" y="8207"/>
                    <a:pt x="8207" y="0"/>
                    <a:pt x="18331" y="0"/>
                  </a:cubicBezTo>
                  <a:close/>
                </a:path>
              </a:pathLst>
            </a:custGeom>
            <a:solidFill>
              <a:srgbClr val="C2DDA8"/>
            </a:solidFill>
          </p:spPr>
        </p:sp>
        <p:sp>
          <p:nvSpPr>
            <p:cNvPr id="42" name="TextBox 42"/>
            <p:cNvSpPr txBox="1"/>
            <p:nvPr/>
          </p:nvSpPr>
          <p:spPr>
            <a:xfrm>
              <a:off x="0" y="-38100"/>
              <a:ext cx="3512640" cy="428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2644135" y="7210725"/>
            <a:ext cx="1169506" cy="1110653"/>
            <a:chOff x="0" y="0"/>
            <a:chExt cx="360259" cy="34213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360259" cy="342130"/>
            </a:xfrm>
            <a:custGeom>
              <a:avLst/>
              <a:gdLst/>
              <a:ahLst/>
              <a:cxnLst/>
              <a:rect l="l" t="t" r="r" b="b"/>
              <a:pathLst>
                <a:path w="360259" h="342130">
                  <a:moveTo>
                    <a:pt x="171065" y="0"/>
                  </a:moveTo>
                  <a:lnTo>
                    <a:pt x="189194" y="0"/>
                  </a:lnTo>
                  <a:cubicBezTo>
                    <a:pt x="234563" y="0"/>
                    <a:pt x="278074" y="18023"/>
                    <a:pt x="310155" y="50104"/>
                  </a:cubicBezTo>
                  <a:cubicBezTo>
                    <a:pt x="342236" y="82185"/>
                    <a:pt x="360259" y="125696"/>
                    <a:pt x="360259" y="171065"/>
                  </a:cubicBezTo>
                  <a:lnTo>
                    <a:pt x="360259" y="171065"/>
                  </a:lnTo>
                  <a:cubicBezTo>
                    <a:pt x="360259" y="216434"/>
                    <a:pt x="342236" y="259945"/>
                    <a:pt x="310155" y="292026"/>
                  </a:cubicBezTo>
                  <a:cubicBezTo>
                    <a:pt x="278074" y="324107"/>
                    <a:pt x="234563" y="342130"/>
                    <a:pt x="189194" y="342130"/>
                  </a:cubicBezTo>
                  <a:lnTo>
                    <a:pt x="171065" y="342130"/>
                  </a:lnTo>
                  <a:cubicBezTo>
                    <a:pt x="125696" y="342130"/>
                    <a:pt x="82185" y="324107"/>
                    <a:pt x="50104" y="292026"/>
                  </a:cubicBezTo>
                  <a:cubicBezTo>
                    <a:pt x="18023" y="259945"/>
                    <a:pt x="0" y="216434"/>
                    <a:pt x="0" y="171065"/>
                  </a:cubicBezTo>
                  <a:lnTo>
                    <a:pt x="0" y="171065"/>
                  </a:lnTo>
                  <a:cubicBezTo>
                    <a:pt x="0" y="125696"/>
                    <a:pt x="18023" y="82185"/>
                    <a:pt x="50104" y="50104"/>
                  </a:cubicBezTo>
                  <a:cubicBezTo>
                    <a:pt x="82185" y="18023"/>
                    <a:pt x="125696" y="0"/>
                    <a:pt x="171065" y="0"/>
                  </a:cubicBezTo>
                  <a:close/>
                </a:path>
              </a:pathLst>
            </a:custGeom>
            <a:solidFill>
              <a:srgbClr val="7D9851"/>
            </a:solidFill>
          </p:spPr>
        </p:sp>
        <p:sp>
          <p:nvSpPr>
            <p:cNvPr id="45" name="TextBox 45"/>
            <p:cNvSpPr txBox="1"/>
            <p:nvPr/>
          </p:nvSpPr>
          <p:spPr>
            <a:xfrm>
              <a:off x="0" y="-38100"/>
              <a:ext cx="360259" cy="3802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6" name="TextBox 46"/>
          <p:cNvSpPr txBox="1"/>
          <p:nvPr/>
        </p:nvSpPr>
        <p:spPr>
          <a:xfrm>
            <a:off x="4268593" y="7144200"/>
            <a:ext cx="10363397" cy="1177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787"/>
              </a:lnSpc>
            </a:pPr>
            <a:r>
              <a:rPr lang="en-US" sz="3419" dirty="0" err="1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Permitir</a:t>
            </a:r>
            <a:r>
              <a:rPr lang="en-US" sz="3419" dirty="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 el </a:t>
            </a:r>
            <a:r>
              <a:rPr lang="en-US" sz="3419" dirty="0" err="1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registro</a:t>
            </a:r>
            <a:r>
              <a:rPr lang="en-US" sz="3419" dirty="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 de </a:t>
            </a:r>
            <a:r>
              <a:rPr lang="en-US" sz="3419" dirty="0" err="1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posibles</a:t>
            </a:r>
            <a:r>
              <a:rPr lang="en-US" sz="3419" dirty="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 </a:t>
            </a:r>
            <a:r>
              <a:rPr lang="en-US" sz="3419" dirty="0" err="1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avistamientos</a:t>
            </a:r>
            <a:r>
              <a:rPr lang="en-US" sz="3419" dirty="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 o </a:t>
            </a:r>
            <a:r>
              <a:rPr lang="en-US" sz="3419" dirty="0" err="1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coincidencias</a:t>
            </a:r>
            <a:r>
              <a:rPr lang="en-US" sz="3419" dirty="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 </a:t>
            </a:r>
            <a:r>
              <a:rPr lang="en-US" sz="3419" dirty="0" err="1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relacionadas</a:t>
            </a:r>
            <a:r>
              <a:rPr lang="en-US" sz="3419" dirty="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 con mascotas </a:t>
            </a:r>
            <a:r>
              <a:rPr lang="en-US" sz="3419" dirty="0" err="1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perdidas</a:t>
            </a:r>
            <a:endParaRPr lang="en-US" sz="3419" dirty="0">
              <a:solidFill>
                <a:srgbClr val="000000"/>
              </a:solidFill>
              <a:latin typeface="Comic Sans"/>
              <a:ea typeface="Comic Sans"/>
              <a:cs typeface="Comic Sans"/>
              <a:sym typeface="Comic Sans"/>
            </a:endParaRPr>
          </a:p>
        </p:txBody>
      </p:sp>
      <p:sp>
        <p:nvSpPr>
          <p:cNvPr id="47" name="TextBox 47"/>
          <p:cNvSpPr txBox="1"/>
          <p:nvPr/>
        </p:nvSpPr>
        <p:spPr>
          <a:xfrm>
            <a:off x="2861419" y="7347616"/>
            <a:ext cx="1147293" cy="751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179"/>
              </a:lnSpc>
            </a:pPr>
            <a:r>
              <a:rPr lang="en-US" sz="4414">
                <a:solidFill>
                  <a:srgbClr val="FFFFFF"/>
                </a:solidFill>
                <a:latin typeface="Comic Sans"/>
                <a:ea typeface="Comic Sans"/>
                <a:cs typeface="Comic Sans"/>
                <a:sym typeface="Comic Sans"/>
              </a:rPr>
              <a:t>4.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6913821" cy="4114800"/>
          </a:xfrm>
          <a:custGeom>
            <a:avLst/>
            <a:gdLst/>
            <a:ahLst/>
            <a:cxnLst/>
            <a:rect l="l" t="t" r="r" b="b"/>
            <a:pathLst>
              <a:path w="6913821" h="4114800">
                <a:moveTo>
                  <a:pt x="0" y="0"/>
                </a:moveTo>
                <a:lnTo>
                  <a:pt x="6913821" y="0"/>
                </a:lnTo>
                <a:lnTo>
                  <a:pt x="691382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 dirty="0"/>
          </a:p>
        </p:txBody>
      </p:sp>
      <p:sp>
        <p:nvSpPr>
          <p:cNvPr id="3" name="Freeform 3"/>
          <p:cNvSpPr/>
          <p:nvPr/>
        </p:nvSpPr>
        <p:spPr>
          <a:xfrm rot="2569708">
            <a:off x="-195070" y="689565"/>
            <a:ext cx="1914908" cy="3522405"/>
          </a:xfrm>
          <a:custGeom>
            <a:avLst/>
            <a:gdLst/>
            <a:ahLst/>
            <a:cxnLst/>
            <a:rect l="l" t="t" r="r" b="b"/>
            <a:pathLst>
              <a:path w="1914908" h="3522405">
                <a:moveTo>
                  <a:pt x="0" y="0"/>
                </a:moveTo>
                <a:lnTo>
                  <a:pt x="1914907" y="0"/>
                </a:lnTo>
                <a:lnTo>
                  <a:pt x="1914907" y="3522405"/>
                </a:lnTo>
                <a:lnTo>
                  <a:pt x="0" y="35224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1345707" y="6172903"/>
            <a:ext cx="6913821" cy="4114800"/>
          </a:xfrm>
          <a:custGeom>
            <a:avLst/>
            <a:gdLst/>
            <a:ahLst/>
            <a:cxnLst/>
            <a:rect l="l" t="t" r="r" b="b"/>
            <a:pathLst>
              <a:path w="6913821" h="4114800">
                <a:moveTo>
                  <a:pt x="6913821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913821" y="0"/>
                </a:lnTo>
                <a:lnTo>
                  <a:pt x="6913821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544408" y="8399971"/>
            <a:ext cx="2930897" cy="2930897"/>
          </a:xfrm>
          <a:custGeom>
            <a:avLst/>
            <a:gdLst/>
            <a:ahLst/>
            <a:cxnLst/>
            <a:rect l="l" t="t" r="r" b="b"/>
            <a:pathLst>
              <a:path w="2930897" h="2930897">
                <a:moveTo>
                  <a:pt x="0" y="0"/>
                </a:moveTo>
                <a:lnTo>
                  <a:pt x="2930897" y="0"/>
                </a:lnTo>
                <a:lnTo>
                  <a:pt x="2930897" y="2930897"/>
                </a:lnTo>
                <a:lnTo>
                  <a:pt x="0" y="29308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544408" y="8651181"/>
            <a:ext cx="2294220" cy="1993886"/>
          </a:xfrm>
          <a:custGeom>
            <a:avLst/>
            <a:gdLst/>
            <a:ahLst/>
            <a:cxnLst/>
            <a:rect l="l" t="t" r="r" b="b"/>
            <a:pathLst>
              <a:path w="2294220" h="1993886">
                <a:moveTo>
                  <a:pt x="0" y="0"/>
                </a:moveTo>
                <a:lnTo>
                  <a:pt x="2294220" y="0"/>
                </a:lnTo>
                <a:lnTo>
                  <a:pt x="2294220" y="1993885"/>
                </a:lnTo>
                <a:lnTo>
                  <a:pt x="0" y="19938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1724017" flipH="1">
            <a:off x="16565737" y="5936223"/>
            <a:ext cx="1904654" cy="3503543"/>
          </a:xfrm>
          <a:custGeom>
            <a:avLst/>
            <a:gdLst/>
            <a:ahLst/>
            <a:cxnLst/>
            <a:rect l="l" t="t" r="r" b="b"/>
            <a:pathLst>
              <a:path w="1904654" h="3503543">
                <a:moveTo>
                  <a:pt x="1904653" y="0"/>
                </a:moveTo>
                <a:lnTo>
                  <a:pt x="0" y="0"/>
                </a:lnTo>
                <a:lnTo>
                  <a:pt x="0" y="3503544"/>
                </a:lnTo>
                <a:lnTo>
                  <a:pt x="1904653" y="3503544"/>
                </a:lnTo>
                <a:lnTo>
                  <a:pt x="190465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5890365">
            <a:off x="17238110" y="8787417"/>
            <a:ext cx="970351" cy="1784927"/>
          </a:xfrm>
          <a:custGeom>
            <a:avLst/>
            <a:gdLst/>
            <a:ahLst/>
            <a:cxnLst/>
            <a:rect l="l" t="t" r="r" b="b"/>
            <a:pathLst>
              <a:path w="970351" h="1784927">
                <a:moveTo>
                  <a:pt x="0" y="0"/>
                </a:moveTo>
                <a:lnTo>
                  <a:pt x="970351" y="0"/>
                </a:lnTo>
                <a:lnTo>
                  <a:pt x="970351" y="1784927"/>
                </a:lnTo>
                <a:lnTo>
                  <a:pt x="0" y="17849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10688091">
            <a:off x="2406268" y="216322"/>
            <a:ext cx="962496" cy="1231100"/>
          </a:xfrm>
          <a:custGeom>
            <a:avLst/>
            <a:gdLst/>
            <a:ahLst/>
            <a:cxnLst/>
            <a:rect l="l" t="t" r="r" b="b"/>
            <a:pathLst>
              <a:path w="962496" h="1231100">
                <a:moveTo>
                  <a:pt x="0" y="0"/>
                </a:moveTo>
                <a:lnTo>
                  <a:pt x="962496" y="0"/>
                </a:lnTo>
                <a:lnTo>
                  <a:pt x="962496" y="1231100"/>
                </a:lnTo>
                <a:lnTo>
                  <a:pt x="0" y="12311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267603">
            <a:off x="15463627" y="7370994"/>
            <a:ext cx="972775" cy="1244247"/>
          </a:xfrm>
          <a:custGeom>
            <a:avLst/>
            <a:gdLst/>
            <a:ahLst/>
            <a:cxnLst/>
            <a:rect l="l" t="t" r="r" b="b"/>
            <a:pathLst>
              <a:path w="972775" h="1244247">
                <a:moveTo>
                  <a:pt x="0" y="0"/>
                </a:moveTo>
                <a:lnTo>
                  <a:pt x="972775" y="0"/>
                </a:lnTo>
                <a:lnTo>
                  <a:pt x="972775" y="1244247"/>
                </a:lnTo>
                <a:lnTo>
                  <a:pt x="0" y="12442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191796" y="-1340756"/>
            <a:ext cx="4135007" cy="4135007"/>
          </a:xfrm>
          <a:custGeom>
            <a:avLst/>
            <a:gdLst/>
            <a:ahLst/>
            <a:cxnLst/>
            <a:rect l="l" t="t" r="r" b="b"/>
            <a:pathLst>
              <a:path w="4135007" h="4135007">
                <a:moveTo>
                  <a:pt x="0" y="0"/>
                </a:moveTo>
                <a:lnTo>
                  <a:pt x="4135008" y="0"/>
                </a:lnTo>
                <a:lnTo>
                  <a:pt x="4135008" y="4135007"/>
                </a:lnTo>
                <a:lnTo>
                  <a:pt x="0" y="413500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6483308" y="200985"/>
            <a:ext cx="2343234" cy="2036483"/>
          </a:xfrm>
          <a:custGeom>
            <a:avLst/>
            <a:gdLst/>
            <a:ahLst/>
            <a:cxnLst/>
            <a:rect l="l" t="t" r="r" b="b"/>
            <a:pathLst>
              <a:path w="2343234" h="2036483">
                <a:moveTo>
                  <a:pt x="0" y="0"/>
                </a:moveTo>
                <a:lnTo>
                  <a:pt x="2343233" y="0"/>
                </a:lnTo>
                <a:lnTo>
                  <a:pt x="2343233" y="2036483"/>
                </a:lnTo>
                <a:lnTo>
                  <a:pt x="0" y="203648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97662" y="-324778"/>
            <a:ext cx="810079" cy="1051525"/>
          </a:xfrm>
          <a:custGeom>
            <a:avLst/>
            <a:gdLst/>
            <a:ahLst/>
            <a:cxnLst/>
            <a:rect l="l" t="t" r="r" b="b"/>
            <a:pathLst>
              <a:path w="810079" h="1051525">
                <a:moveTo>
                  <a:pt x="0" y="0"/>
                </a:moveTo>
                <a:lnTo>
                  <a:pt x="810079" y="0"/>
                </a:lnTo>
                <a:lnTo>
                  <a:pt x="810079" y="1051525"/>
                </a:lnTo>
                <a:lnTo>
                  <a:pt x="0" y="105152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4606642" y="8895023"/>
            <a:ext cx="810079" cy="1051525"/>
          </a:xfrm>
          <a:custGeom>
            <a:avLst/>
            <a:gdLst/>
            <a:ahLst/>
            <a:cxnLst/>
            <a:rect l="l" t="t" r="r" b="b"/>
            <a:pathLst>
              <a:path w="810079" h="1051525">
                <a:moveTo>
                  <a:pt x="0" y="0"/>
                </a:moveTo>
                <a:lnTo>
                  <a:pt x="810079" y="0"/>
                </a:lnTo>
                <a:lnTo>
                  <a:pt x="810079" y="1051525"/>
                </a:lnTo>
                <a:lnTo>
                  <a:pt x="0" y="105152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4876799" y="644261"/>
            <a:ext cx="8534400" cy="11499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dirty="0">
                <a:solidFill>
                  <a:srgbClr val="537122"/>
                </a:solidFill>
                <a:latin typeface="Lilita One"/>
                <a:ea typeface="Lilita One"/>
                <a:cs typeface="Lilita One"/>
                <a:sym typeface="Lilita One"/>
              </a:rPr>
              <a:t>¿CÓMO Y PARA QUÉ?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323708" y="2665085"/>
            <a:ext cx="9640582" cy="7570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6183"/>
              </a:lnSpc>
            </a:pPr>
            <a:r>
              <a:rPr lang="es-CO" sz="4800" dirty="0">
                <a:solidFill>
                  <a:srgbClr val="537122"/>
                </a:solidFill>
              </a:rPr>
              <a:t>¿Cómo funcionaría Patitas Perdidas?</a:t>
            </a:r>
            <a:endParaRPr lang="en-US" sz="4800" dirty="0">
              <a:solidFill>
                <a:srgbClr val="537122"/>
              </a:solidFill>
              <a:latin typeface="Comic Sans"/>
              <a:ea typeface="Comic Sans"/>
              <a:cs typeface="Comic Sans"/>
              <a:sym typeface="Comic San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824C62D-C253-45DF-A388-B7A44566E4D8}"/>
              </a:ext>
            </a:extLst>
          </p:cNvPr>
          <p:cNvSpPr txBox="1"/>
          <p:nvPr/>
        </p:nvSpPr>
        <p:spPr>
          <a:xfrm>
            <a:off x="2178814" y="4293047"/>
            <a:ext cx="13662045" cy="49859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3600" dirty="0">
                <a:latin typeface="Comic Sans" panose="020B0604020202020204" charset="0"/>
              </a:rPr>
              <a:t>El cliente se registra en la plataforma.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3600" dirty="0">
                <a:latin typeface="Comic Sans" panose="020B0604020202020204" charset="0"/>
              </a:rPr>
              <a:t>Publica la información de su mascota perdida.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3600" dirty="0">
                <a:latin typeface="Comic Sans" panose="020B0604020202020204" charset="0"/>
              </a:rPr>
              <a:t>Otros clientes consultan las publicaciones.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3600" dirty="0">
                <a:latin typeface="Comic Sans" panose="020B0604020202020204" charset="0"/>
              </a:rPr>
              <a:t>Si identifican una posible coincidencia, pueden realizar un reporte.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3600" dirty="0">
                <a:latin typeface="Comic Sans" panose="020B0604020202020204" charset="0"/>
              </a:rPr>
              <a:t>El propietario recibe la información y evalúa el reporte recibido.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3600" dirty="0">
                <a:latin typeface="Comic Sans" panose="020B0604020202020204" charset="0"/>
              </a:rPr>
              <a:t>La publicación permanece activa hasta que el propietario cambie su estado. </a:t>
            </a:r>
          </a:p>
        </p:txBody>
      </p:sp>
    </p:spTree>
    <p:extLst>
      <p:ext uri="{BB962C8B-B14F-4D97-AF65-F5344CB8AC3E}">
        <p14:creationId xmlns:p14="http://schemas.microsoft.com/office/powerpoint/2010/main" val="20064730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6913821" cy="4114800"/>
          </a:xfrm>
          <a:custGeom>
            <a:avLst/>
            <a:gdLst/>
            <a:ahLst/>
            <a:cxnLst/>
            <a:rect l="l" t="t" r="r" b="b"/>
            <a:pathLst>
              <a:path w="6913821" h="4114800">
                <a:moveTo>
                  <a:pt x="0" y="0"/>
                </a:moveTo>
                <a:lnTo>
                  <a:pt x="6913821" y="0"/>
                </a:lnTo>
                <a:lnTo>
                  <a:pt x="691382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 dirty="0"/>
          </a:p>
        </p:txBody>
      </p:sp>
      <p:sp>
        <p:nvSpPr>
          <p:cNvPr id="3" name="Freeform 3"/>
          <p:cNvSpPr/>
          <p:nvPr/>
        </p:nvSpPr>
        <p:spPr>
          <a:xfrm rot="2569708">
            <a:off x="-195070" y="689565"/>
            <a:ext cx="1914908" cy="3522405"/>
          </a:xfrm>
          <a:custGeom>
            <a:avLst/>
            <a:gdLst/>
            <a:ahLst/>
            <a:cxnLst/>
            <a:rect l="l" t="t" r="r" b="b"/>
            <a:pathLst>
              <a:path w="1914908" h="3522405">
                <a:moveTo>
                  <a:pt x="0" y="0"/>
                </a:moveTo>
                <a:lnTo>
                  <a:pt x="1914907" y="0"/>
                </a:lnTo>
                <a:lnTo>
                  <a:pt x="1914907" y="3522405"/>
                </a:lnTo>
                <a:lnTo>
                  <a:pt x="0" y="35224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1345707" y="6172903"/>
            <a:ext cx="6913821" cy="4114800"/>
          </a:xfrm>
          <a:custGeom>
            <a:avLst/>
            <a:gdLst/>
            <a:ahLst/>
            <a:cxnLst/>
            <a:rect l="l" t="t" r="r" b="b"/>
            <a:pathLst>
              <a:path w="6913821" h="4114800">
                <a:moveTo>
                  <a:pt x="6913821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913821" y="0"/>
                </a:lnTo>
                <a:lnTo>
                  <a:pt x="6913821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544408" y="8399971"/>
            <a:ext cx="2930897" cy="2930897"/>
          </a:xfrm>
          <a:custGeom>
            <a:avLst/>
            <a:gdLst/>
            <a:ahLst/>
            <a:cxnLst/>
            <a:rect l="l" t="t" r="r" b="b"/>
            <a:pathLst>
              <a:path w="2930897" h="2930897">
                <a:moveTo>
                  <a:pt x="0" y="0"/>
                </a:moveTo>
                <a:lnTo>
                  <a:pt x="2930897" y="0"/>
                </a:lnTo>
                <a:lnTo>
                  <a:pt x="2930897" y="2930897"/>
                </a:lnTo>
                <a:lnTo>
                  <a:pt x="0" y="29308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544408" y="8651181"/>
            <a:ext cx="2294220" cy="1993886"/>
          </a:xfrm>
          <a:custGeom>
            <a:avLst/>
            <a:gdLst/>
            <a:ahLst/>
            <a:cxnLst/>
            <a:rect l="l" t="t" r="r" b="b"/>
            <a:pathLst>
              <a:path w="2294220" h="1993886">
                <a:moveTo>
                  <a:pt x="0" y="0"/>
                </a:moveTo>
                <a:lnTo>
                  <a:pt x="2294220" y="0"/>
                </a:lnTo>
                <a:lnTo>
                  <a:pt x="2294220" y="1993885"/>
                </a:lnTo>
                <a:lnTo>
                  <a:pt x="0" y="19938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1724017" flipH="1">
            <a:off x="16565737" y="5936223"/>
            <a:ext cx="1904654" cy="3503543"/>
          </a:xfrm>
          <a:custGeom>
            <a:avLst/>
            <a:gdLst/>
            <a:ahLst/>
            <a:cxnLst/>
            <a:rect l="l" t="t" r="r" b="b"/>
            <a:pathLst>
              <a:path w="1904654" h="3503543">
                <a:moveTo>
                  <a:pt x="1904653" y="0"/>
                </a:moveTo>
                <a:lnTo>
                  <a:pt x="0" y="0"/>
                </a:lnTo>
                <a:lnTo>
                  <a:pt x="0" y="3503544"/>
                </a:lnTo>
                <a:lnTo>
                  <a:pt x="1904653" y="3503544"/>
                </a:lnTo>
                <a:lnTo>
                  <a:pt x="190465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5890365">
            <a:off x="17238110" y="8787417"/>
            <a:ext cx="970351" cy="1784927"/>
          </a:xfrm>
          <a:custGeom>
            <a:avLst/>
            <a:gdLst/>
            <a:ahLst/>
            <a:cxnLst/>
            <a:rect l="l" t="t" r="r" b="b"/>
            <a:pathLst>
              <a:path w="970351" h="1784927">
                <a:moveTo>
                  <a:pt x="0" y="0"/>
                </a:moveTo>
                <a:lnTo>
                  <a:pt x="970351" y="0"/>
                </a:lnTo>
                <a:lnTo>
                  <a:pt x="970351" y="1784927"/>
                </a:lnTo>
                <a:lnTo>
                  <a:pt x="0" y="17849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10688091">
            <a:off x="2406268" y="216322"/>
            <a:ext cx="962496" cy="1231100"/>
          </a:xfrm>
          <a:custGeom>
            <a:avLst/>
            <a:gdLst/>
            <a:ahLst/>
            <a:cxnLst/>
            <a:rect l="l" t="t" r="r" b="b"/>
            <a:pathLst>
              <a:path w="962496" h="1231100">
                <a:moveTo>
                  <a:pt x="0" y="0"/>
                </a:moveTo>
                <a:lnTo>
                  <a:pt x="962496" y="0"/>
                </a:lnTo>
                <a:lnTo>
                  <a:pt x="962496" y="1231100"/>
                </a:lnTo>
                <a:lnTo>
                  <a:pt x="0" y="12311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267603">
            <a:off x="15463627" y="7370994"/>
            <a:ext cx="972775" cy="1244247"/>
          </a:xfrm>
          <a:custGeom>
            <a:avLst/>
            <a:gdLst/>
            <a:ahLst/>
            <a:cxnLst/>
            <a:rect l="l" t="t" r="r" b="b"/>
            <a:pathLst>
              <a:path w="972775" h="1244247">
                <a:moveTo>
                  <a:pt x="0" y="0"/>
                </a:moveTo>
                <a:lnTo>
                  <a:pt x="972775" y="0"/>
                </a:lnTo>
                <a:lnTo>
                  <a:pt x="972775" y="1244247"/>
                </a:lnTo>
                <a:lnTo>
                  <a:pt x="0" y="12442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191796" y="-1340756"/>
            <a:ext cx="4135007" cy="4135007"/>
          </a:xfrm>
          <a:custGeom>
            <a:avLst/>
            <a:gdLst/>
            <a:ahLst/>
            <a:cxnLst/>
            <a:rect l="l" t="t" r="r" b="b"/>
            <a:pathLst>
              <a:path w="4135007" h="4135007">
                <a:moveTo>
                  <a:pt x="0" y="0"/>
                </a:moveTo>
                <a:lnTo>
                  <a:pt x="4135008" y="0"/>
                </a:lnTo>
                <a:lnTo>
                  <a:pt x="4135008" y="4135007"/>
                </a:lnTo>
                <a:lnTo>
                  <a:pt x="0" y="413500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6483308" y="200985"/>
            <a:ext cx="2343234" cy="2036483"/>
          </a:xfrm>
          <a:custGeom>
            <a:avLst/>
            <a:gdLst/>
            <a:ahLst/>
            <a:cxnLst/>
            <a:rect l="l" t="t" r="r" b="b"/>
            <a:pathLst>
              <a:path w="2343234" h="2036483">
                <a:moveTo>
                  <a:pt x="0" y="0"/>
                </a:moveTo>
                <a:lnTo>
                  <a:pt x="2343233" y="0"/>
                </a:lnTo>
                <a:lnTo>
                  <a:pt x="2343233" y="2036483"/>
                </a:lnTo>
                <a:lnTo>
                  <a:pt x="0" y="203648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97662" y="-324778"/>
            <a:ext cx="810079" cy="1051525"/>
          </a:xfrm>
          <a:custGeom>
            <a:avLst/>
            <a:gdLst/>
            <a:ahLst/>
            <a:cxnLst/>
            <a:rect l="l" t="t" r="r" b="b"/>
            <a:pathLst>
              <a:path w="810079" h="1051525">
                <a:moveTo>
                  <a:pt x="0" y="0"/>
                </a:moveTo>
                <a:lnTo>
                  <a:pt x="810079" y="0"/>
                </a:lnTo>
                <a:lnTo>
                  <a:pt x="810079" y="1051525"/>
                </a:lnTo>
                <a:lnTo>
                  <a:pt x="0" y="105152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4606642" y="8895023"/>
            <a:ext cx="810079" cy="1051525"/>
          </a:xfrm>
          <a:custGeom>
            <a:avLst/>
            <a:gdLst/>
            <a:ahLst/>
            <a:cxnLst/>
            <a:rect l="l" t="t" r="r" b="b"/>
            <a:pathLst>
              <a:path w="810079" h="1051525">
                <a:moveTo>
                  <a:pt x="0" y="0"/>
                </a:moveTo>
                <a:lnTo>
                  <a:pt x="810079" y="0"/>
                </a:lnTo>
                <a:lnTo>
                  <a:pt x="810079" y="1051525"/>
                </a:lnTo>
                <a:lnTo>
                  <a:pt x="0" y="105152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4876799" y="644261"/>
            <a:ext cx="8534400" cy="11499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dirty="0">
                <a:solidFill>
                  <a:srgbClr val="537122"/>
                </a:solidFill>
                <a:latin typeface="Lilita One"/>
                <a:ea typeface="Lilita One"/>
                <a:cs typeface="Lilita One"/>
                <a:sym typeface="Lilita One"/>
              </a:rPr>
              <a:t>¿CÓMO Y PARA QUÉ?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361971" y="2438452"/>
            <a:ext cx="5564055" cy="7950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6183"/>
              </a:lnSpc>
            </a:pPr>
            <a:r>
              <a:rPr lang="es-CO" sz="5400" dirty="0">
                <a:solidFill>
                  <a:srgbClr val="537122"/>
                </a:solidFill>
              </a:rPr>
              <a:t>¿Para qué serviría?</a:t>
            </a:r>
            <a:endParaRPr lang="en-US" sz="5400" dirty="0">
              <a:solidFill>
                <a:srgbClr val="537122"/>
              </a:solidFill>
              <a:latin typeface="Comic Sans"/>
              <a:ea typeface="Comic Sans"/>
              <a:cs typeface="Comic Sans"/>
              <a:sym typeface="Comic San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824C62D-C253-45DF-A388-B7A44566E4D8}"/>
              </a:ext>
            </a:extLst>
          </p:cNvPr>
          <p:cNvSpPr txBox="1"/>
          <p:nvPr/>
        </p:nvSpPr>
        <p:spPr>
          <a:xfrm>
            <a:off x="2381624" y="3709304"/>
            <a:ext cx="14592100" cy="47397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s-ES" sz="4400" dirty="0">
                <a:latin typeface="Comic Sans" panose="020B0604020202020204" charset="0"/>
              </a:rPr>
              <a:t>Centralizar la información sobre mascotas perdidas.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ES" sz="4400" dirty="0">
                <a:latin typeface="Comic Sans" panose="020B0604020202020204" charset="0"/>
              </a:rPr>
              <a:t>Facilitar la consulta de reportes en un solo lugar.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ES" sz="4400" dirty="0">
                <a:latin typeface="Comic Sans" panose="020B0604020202020204" charset="0"/>
              </a:rPr>
              <a:t>Apoyar la comunicación entre los clientes.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ES" sz="4400" dirty="0">
                <a:latin typeface="Comic Sans" panose="020B0604020202020204" charset="0"/>
              </a:rPr>
              <a:t>Organizar la información por localidades de Bogotá D.C.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ES" sz="4400" dirty="0">
                <a:latin typeface="Comic Sans" panose="020B0604020202020204" charset="0"/>
              </a:rPr>
              <a:t>Incrementar las posibilidades de recuperación de mascotas extraviadas. </a:t>
            </a:r>
          </a:p>
        </p:txBody>
      </p:sp>
    </p:spTree>
    <p:extLst>
      <p:ext uri="{BB962C8B-B14F-4D97-AF65-F5344CB8AC3E}">
        <p14:creationId xmlns:p14="http://schemas.microsoft.com/office/powerpoint/2010/main" val="39040214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6913821" cy="4114800"/>
          </a:xfrm>
          <a:custGeom>
            <a:avLst/>
            <a:gdLst/>
            <a:ahLst/>
            <a:cxnLst/>
            <a:rect l="l" t="t" r="r" b="b"/>
            <a:pathLst>
              <a:path w="6913821" h="4114800">
                <a:moveTo>
                  <a:pt x="0" y="0"/>
                </a:moveTo>
                <a:lnTo>
                  <a:pt x="6913821" y="0"/>
                </a:lnTo>
                <a:lnTo>
                  <a:pt x="691382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2569708">
            <a:off x="-195070" y="689565"/>
            <a:ext cx="1914908" cy="3522405"/>
          </a:xfrm>
          <a:custGeom>
            <a:avLst/>
            <a:gdLst/>
            <a:ahLst/>
            <a:cxnLst/>
            <a:rect l="l" t="t" r="r" b="b"/>
            <a:pathLst>
              <a:path w="1914908" h="3522405">
                <a:moveTo>
                  <a:pt x="0" y="0"/>
                </a:moveTo>
                <a:lnTo>
                  <a:pt x="1914907" y="0"/>
                </a:lnTo>
                <a:lnTo>
                  <a:pt x="1914907" y="3522405"/>
                </a:lnTo>
                <a:lnTo>
                  <a:pt x="0" y="35224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1374179" y="6172200"/>
            <a:ext cx="6913821" cy="4114800"/>
          </a:xfrm>
          <a:custGeom>
            <a:avLst/>
            <a:gdLst/>
            <a:ahLst/>
            <a:cxnLst/>
            <a:rect l="l" t="t" r="r" b="b"/>
            <a:pathLst>
              <a:path w="6913821" h="4114800">
                <a:moveTo>
                  <a:pt x="6913821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913821" y="0"/>
                </a:lnTo>
                <a:lnTo>
                  <a:pt x="6913821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544408" y="8399971"/>
            <a:ext cx="2930897" cy="2930897"/>
          </a:xfrm>
          <a:custGeom>
            <a:avLst/>
            <a:gdLst/>
            <a:ahLst/>
            <a:cxnLst/>
            <a:rect l="l" t="t" r="r" b="b"/>
            <a:pathLst>
              <a:path w="2930897" h="2930897">
                <a:moveTo>
                  <a:pt x="0" y="0"/>
                </a:moveTo>
                <a:lnTo>
                  <a:pt x="2930897" y="0"/>
                </a:lnTo>
                <a:lnTo>
                  <a:pt x="2930897" y="2930897"/>
                </a:lnTo>
                <a:lnTo>
                  <a:pt x="0" y="29308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544408" y="8651181"/>
            <a:ext cx="2294220" cy="1993886"/>
          </a:xfrm>
          <a:custGeom>
            <a:avLst/>
            <a:gdLst/>
            <a:ahLst/>
            <a:cxnLst/>
            <a:rect l="l" t="t" r="r" b="b"/>
            <a:pathLst>
              <a:path w="2294220" h="1993886">
                <a:moveTo>
                  <a:pt x="0" y="0"/>
                </a:moveTo>
                <a:lnTo>
                  <a:pt x="2294220" y="0"/>
                </a:lnTo>
                <a:lnTo>
                  <a:pt x="2294220" y="1993885"/>
                </a:lnTo>
                <a:lnTo>
                  <a:pt x="0" y="19938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1724017" flipH="1">
            <a:off x="16555772" y="6096708"/>
            <a:ext cx="1904654" cy="3503543"/>
          </a:xfrm>
          <a:custGeom>
            <a:avLst/>
            <a:gdLst/>
            <a:ahLst/>
            <a:cxnLst/>
            <a:rect l="l" t="t" r="r" b="b"/>
            <a:pathLst>
              <a:path w="1904654" h="3503543">
                <a:moveTo>
                  <a:pt x="1904653" y="0"/>
                </a:moveTo>
                <a:lnTo>
                  <a:pt x="0" y="0"/>
                </a:lnTo>
                <a:lnTo>
                  <a:pt x="0" y="3503544"/>
                </a:lnTo>
                <a:lnTo>
                  <a:pt x="1904653" y="3503544"/>
                </a:lnTo>
                <a:lnTo>
                  <a:pt x="190465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5890365">
            <a:off x="17238110" y="8787417"/>
            <a:ext cx="970351" cy="1784927"/>
          </a:xfrm>
          <a:custGeom>
            <a:avLst/>
            <a:gdLst/>
            <a:ahLst/>
            <a:cxnLst/>
            <a:rect l="l" t="t" r="r" b="b"/>
            <a:pathLst>
              <a:path w="970351" h="1784927">
                <a:moveTo>
                  <a:pt x="0" y="0"/>
                </a:moveTo>
                <a:lnTo>
                  <a:pt x="970351" y="0"/>
                </a:lnTo>
                <a:lnTo>
                  <a:pt x="970351" y="1784927"/>
                </a:lnTo>
                <a:lnTo>
                  <a:pt x="0" y="17849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10688091">
            <a:off x="2406268" y="216322"/>
            <a:ext cx="962496" cy="1231100"/>
          </a:xfrm>
          <a:custGeom>
            <a:avLst/>
            <a:gdLst/>
            <a:ahLst/>
            <a:cxnLst/>
            <a:rect l="l" t="t" r="r" b="b"/>
            <a:pathLst>
              <a:path w="962496" h="1231100">
                <a:moveTo>
                  <a:pt x="0" y="0"/>
                </a:moveTo>
                <a:lnTo>
                  <a:pt x="962496" y="0"/>
                </a:lnTo>
                <a:lnTo>
                  <a:pt x="962496" y="1231100"/>
                </a:lnTo>
                <a:lnTo>
                  <a:pt x="0" y="12311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267603">
            <a:off x="17168537" y="4150740"/>
            <a:ext cx="972775" cy="1244247"/>
          </a:xfrm>
          <a:custGeom>
            <a:avLst/>
            <a:gdLst/>
            <a:ahLst/>
            <a:cxnLst/>
            <a:rect l="l" t="t" r="r" b="b"/>
            <a:pathLst>
              <a:path w="972775" h="1244247">
                <a:moveTo>
                  <a:pt x="0" y="0"/>
                </a:moveTo>
                <a:lnTo>
                  <a:pt x="972775" y="0"/>
                </a:lnTo>
                <a:lnTo>
                  <a:pt x="972775" y="1244247"/>
                </a:lnTo>
                <a:lnTo>
                  <a:pt x="0" y="12442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191796" y="-1340756"/>
            <a:ext cx="4135007" cy="4135007"/>
          </a:xfrm>
          <a:custGeom>
            <a:avLst/>
            <a:gdLst/>
            <a:ahLst/>
            <a:cxnLst/>
            <a:rect l="l" t="t" r="r" b="b"/>
            <a:pathLst>
              <a:path w="4135007" h="4135007">
                <a:moveTo>
                  <a:pt x="0" y="0"/>
                </a:moveTo>
                <a:lnTo>
                  <a:pt x="4135008" y="0"/>
                </a:lnTo>
                <a:lnTo>
                  <a:pt x="4135008" y="4135007"/>
                </a:lnTo>
                <a:lnTo>
                  <a:pt x="0" y="413500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6483308" y="200985"/>
            <a:ext cx="2343234" cy="2036483"/>
          </a:xfrm>
          <a:custGeom>
            <a:avLst/>
            <a:gdLst/>
            <a:ahLst/>
            <a:cxnLst/>
            <a:rect l="l" t="t" r="r" b="b"/>
            <a:pathLst>
              <a:path w="2343234" h="2036483">
                <a:moveTo>
                  <a:pt x="0" y="0"/>
                </a:moveTo>
                <a:lnTo>
                  <a:pt x="2343233" y="0"/>
                </a:lnTo>
                <a:lnTo>
                  <a:pt x="2343233" y="2036483"/>
                </a:lnTo>
                <a:lnTo>
                  <a:pt x="0" y="203648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97662" y="-324778"/>
            <a:ext cx="810079" cy="1051525"/>
          </a:xfrm>
          <a:custGeom>
            <a:avLst/>
            <a:gdLst/>
            <a:ahLst/>
            <a:cxnLst/>
            <a:rect l="l" t="t" r="r" b="b"/>
            <a:pathLst>
              <a:path w="810079" h="1051525">
                <a:moveTo>
                  <a:pt x="0" y="0"/>
                </a:moveTo>
                <a:lnTo>
                  <a:pt x="810079" y="0"/>
                </a:lnTo>
                <a:lnTo>
                  <a:pt x="810079" y="1051525"/>
                </a:lnTo>
                <a:lnTo>
                  <a:pt x="0" y="105152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4606642" y="8895023"/>
            <a:ext cx="810079" cy="1051525"/>
          </a:xfrm>
          <a:custGeom>
            <a:avLst/>
            <a:gdLst/>
            <a:ahLst/>
            <a:cxnLst/>
            <a:rect l="l" t="t" r="r" b="b"/>
            <a:pathLst>
              <a:path w="810079" h="1051525">
                <a:moveTo>
                  <a:pt x="0" y="0"/>
                </a:moveTo>
                <a:lnTo>
                  <a:pt x="810079" y="0"/>
                </a:lnTo>
                <a:lnTo>
                  <a:pt x="810079" y="1051525"/>
                </a:lnTo>
                <a:lnTo>
                  <a:pt x="0" y="105152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2748004" y="1066844"/>
            <a:ext cx="13373787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dirty="0">
                <a:solidFill>
                  <a:srgbClr val="537122"/>
                </a:solidFill>
                <a:latin typeface="Lilita One"/>
                <a:ea typeface="Lilita One"/>
                <a:cs typeface="Lilita One"/>
                <a:sym typeface="Lilita One"/>
              </a:rPr>
              <a:t>PLANTEAMIENTO DEL PROBLEMA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51900" y="2968714"/>
            <a:ext cx="15345203" cy="4924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71295" lvl="1">
              <a:lnSpc>
                <a:spcPts val="4815"/>
              </a:lnSpc>
            </a:pPr>
            <a:r>
              <a:rPr lang="es-ES" sz="4400" dirty="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La pérdida de mascotas es una situación frecuente en Bogotá D.C. Actualmente, la búsqueda se realiza a través de redes sociales y medios informales, donde la información se encuentra dispersa y es difícil de consultar. Esta falta de organización reduce la visibilidad de los reportes y dificulta la recuperación de las mascotas extraviadas, evidenciando la necesidad de una plataforma centralizada.</a:t>
            </a:r>
            <a:endParaRPr lang="en-US" sz="4400" dirty="0">
              <a:solidFill>
                <a:srgbClr val="000000"/>
              </a:solidFill>
              <a:latin typeface="Comic Sans"/>
              <a:ea typeface="Comic Sans"/>
              <a:cs typeface="Comic Sans"/>
              <a:sym typeface="Comic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6913821" cy="4114800"/>
          </a:xfrm>
          <a:custGeom>
            <a:avLst/>
            <a:gdLst/>
            <a:ahLst/>
            <a:cxnLst/>
            <a:rect l="l" t="t" r="r" b="b"/>
            <a:pathLst>
              <a:path w="6913821" h="4114800">
                <a:moveTo>
                  <a:pt x="0" y="0"/>
                </a:moveTo>
                <a:lnTo>
                  <a:pt x="6913821" y="0"/>
                </a:lnTo>
                <a:lnTo>
                  <a:pt x="691382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2569708">
            <a:off x="-195070" y="689565"/>
            <a:ext cx="1914908" cy="3522405"/>
          </a:xfrm>
          <a:custGeom>
            <a:avLst/>
            <a:gdLst/>
            <a:ahLst/>
            <a:cxnLst/>
            <a:rect l="l" t="t" r="r" b="b"/>
            <a:pathLst>
              <a:path w="1914908" h="3522405">
                <a:moveTo>
                  <a:pt x="0" y="0"/>
                </a:moveTo>
                <a:lnTo>
                  <a:pt x="1914907" y="0"/>
                </a:lnTo>
                <a:lnTo>
                  <a:pt x="1914907" y="3522405"/>
                </a:lnTo>
                <a:lnTo>
                  <a:pt x="0" y="35224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1374179" y="6172200"/>
            <a:ext cx="6913821" cy="4114800"/>
          </a:xfrm>
          <a:custGeom>
            <a:avLst/>
            <a:gdLst/>
            <a:ahLst/>
            <a:cxnLst/>
            <a:rect l="l" t="t" r="r" b="b"/>
            <a:pathLst>
              <a:path w="6913821" h="4114800">
                <a:moveTo>
                  <a:pt x="6913821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913821" y="0"/>
                </a:lnTo>
                <a:lnTo>
                  <a:pt x="6913821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544408" y="8399971"/>
            <a:ext cx="2930897" cy="2930897"/>
          </a:xfrm>
          <a:custGeom>
            <a:avLst/>
            <a:gdLst/>
            <a:ahLst/>
            <a:cxnLst/>
            <a:rect l="l" t="t" r="r" b="b"/>
            <a:pathLst>
              <a:path w="2930897" h="2930897">
                <a:moveTo>
                  <a:pt x="0" y="0"/>
                </a:moveTo>
                <a:lnTo>
                  <a:pt x="2930897" y="0"/>
                </a:lnTo>
                <a:lnTo>
                  <a:pt x="2930897" y="2930897"/>
                </a:lnTo>
                <a:lnTo>
                  <a:pt x="0" y="29308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544408" y="8651181"/>
            <a:ext cx="2294220" cy="1993886"/>
          </a:xfrm>
          <a:custGeom>
            <a:avLst/>
            <a:gdLst/>
            <a:ahLst/>
            <a:cxnLst/>
            <a:rect l="l" t="t" r="r" b="b"/>
            <a:pathLst>
              <a:path w="2294220" h="1993886">
                <a:moveTo>
                  <a:pt x="0" y="0"/>
                </a:moveTo>
                <a:lnTo>
                  <a:pt x="2294220" y="0"/>
                </a:lnTo>
                <a:lnTo>
                  <a:pt x="2294220" y="1993885"/>
                </a:lnTo>
                <a:lnTo>
                  <a:pt x="0" y="19938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1724017" flipH="1">
            <a:off x="16555772" y="6096708"/>
            <a:ext cx="1904654" cy="3503543"/>
          </a:xfrm>
          <a:custGeom>
            <a:avLst/>
            <a:gdLst/>
            <a:ahLst/>
            <a:cxnLst/>
            <a:rect l="l" t="t" r="r" b="b"/>
            <a:pathLst>
              <a:path w="1904654" h="3503543">
                <a:moveTo>
                  <a:pt x="1904653" y="0"/>
                </a:moveTo>
                <a:lnTo>
                  <a:pt x="0" y="0"/>
                </a:lnTo>
                <a:lnTo>
                  <a:pt x="0" y="3503544"/>
                </a:lnTo>
                <a:lnTo>
                  <a:pt x="1904653" y="3503544"/>
                </a:lnTo>
                <a:lnTo>
                  <a:pt x="190465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5890365">
            <a:off x="17238110" y="8787417"/>
            <a:ext cx="970351" cy="1784927"/>
          </a:xfrm>
          <a:custGeom>
            <a:avLst/>
            <a:gdLst/>
            <a:ahLst/>
            <a:cxnLst/>
            <a:rect l="l" t="t" r="r" b="b"/>
            <a:pathLst>
              <a:path w="970351" h="1784927">
                <a:moveTo>
                  <a:pt x="0" y="0"/>
                </a:moveTo>
                <a:lnTo>
                  <a:pt x="970351" y="0"/>
                </a:lnTo>
                <a:lnTo>
                  <a:pt x="970351" y="1784927"/>
                </a:lnTo>
                <a:lnTo>
                  <a:pt x="0" y="17849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10688091">
            <a:off x="2406268" y="216322"/>
            <a:ext cx="962496" cy="1231100"/>
          </a:xfrm>
          <a:custGeom>
            <a:avLst/>
            <a:gdLst/>
            <a:ahLst/>
            <a:cxnLst/>
            <a:rect l="l" t="t" r="r" b="b"/>
            <a:pathLst>
              <a:path w="962496" h="1231100">
                <a:moveTo>
                  <a:pt x="0" y="0"/>
                </a:moveTo>
                <a:lnTo>
                  <a:pt x="962496" y="0"/>
                </a:lnTo>
                <a:lnTo>
                  <a:pt x="962496" y="1231100"/>
                </a:lnTo>
                <a:lnTo>
                  <a:pt x="0" y="12311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267603">
            <a:off x="15463627" y="7370994"/>
            <a:ext cx="972775" cy="1244247"/>
          </a:xfrm>
          <a:custGeom>
            <a:avLst/>
            <a:gdLst/>
            <a:ahLst/>
            <a:cxnLst/>
            <a:rect l="l" t="t" r="r" b="b"/>
            <a:pathLst>
              <a:path w="972775" h="1244247">
                <a:moveTo>
                  <a:pt x="0" y="0"/>
                </a:moveTo>
                <a:lnTo>
                  <a:pt x="972775" y="0"/>
                </a:lnTo>
                <a:lnTo>
                  <a:pt x="972775" y="1244247"/>
                </a:lnTo>
                <a:lnTo>
                  <a:pt x="0" y="12442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191796" y="-1340756"/>
            <a:ext cx="4135007" cy="4135007"/>
          </a:xfrm>
          <a:custGeom>
            <a:avLst/>
            <a:gdLst/>
            <a:ahLst/>
            <a:cxnLst/>
            <a:rect l="l" t="t" r="r" b="b"/>
            <a:pathLst>
              <a:path w="4135007" h="4135007">
                <a:moveTo>
                  <a:pt x="0" y="0"/>
                </a:moveTo>
                <a:lnTo>
                  <a:pt x="4135008" y="0"/>
                </a:lnTo>
                <a:lnTo>
                  <a:pt x="4135008" y="4135007"/>
                </a:lnTo>
                <a:lnTo>
                  <a:pt x="0" y="413500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6483308" y="200985"/>
            <a:ext cx="2343234" cy="2036483"/>
          </a:xfrm>
          <a:custGeom>
            <a:avLst/>
            <a:gdLst/>
            <a:ahLst/>
            <a:cxnLst/>
            <a:rect l="l" t="t" r="r" b="b"/>
            <a:pathLst>
              <a:path w="2343234" h="2036483">
                <a:moveTo>
                  <a:pt x="0" y="0"/>
                </a:moveTo>
                <a:lnTo>
                  <a:pt x="2343233" y="0"/>
                </a:lnTo>
                <a:lnTo>
                  <a:pt x="2343233" y="2036483"/>
                </a:lnTo>
                <a:lnTo>
                  <a:pt x="0" y="203648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97662" y="-324778"/>
            <a:ext cx="810079" cy="1051525"/>
          </a:xfrm>
          <a:custGeom>
            <a:avLst/>
            <a:gdLst/>
            <a:ahLst/>
            <a:cxnLst/>
            <a:rect l="l" t="t" r="r" b="b"/>
            <a:pathLst>
              <a:path w="810079" h="1051525">
                <a:moveTo>
                  <a:pt x="0" y="0"/>
                </a:moveTo>
                <a:lnTo>
                  <a:pt x="810079" y="0"/>
                </a:lnTo>
                <a:lnTo>
                  <a:pt x="810079" y="1051525"/>
                </a:lnTo>
                <a:lnTo>
                  <a:pt x="0" y="105152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4606642" y="8895023"/>
            <a:ext cx="810079" cy="1051525"/>
          </a:xfrm>
          <a:custGeom>
            <a:avLst/>
            <a:gdLst/>
            <a:ahLst/>
            <a:cxnLst/>
            <a:rect l="l" t="t" r="r" b="b"/>
            <a:pathLst>
              <a:path w="810079" h="1051525">
                <a:moveTo>
                  <a:pt x="0" y="0"/>
                </a:moveTo>
                <a:lnTo>
                  <a:pt x="810079" y="0"/>
                </a:lnTo>
                <a:lnTo>
                  <a:pt x="810079" y="1051525"/>
                </a:lnTo>
                <a:lnTo>
                  <a:pt x="0" y="105152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2479608" y="1832753"/>
            <a:ext cx="13328784" cy="1722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0"/>
              </a:lnSpc>
            </a:pPr>
            <a:r>
              <a:rPr lang="en-US" sz="9993">
                <a:solidFill>
                  <a:srgbClr val="537122"/>
                </a:solidFill>
                <a:latin typeface="Lilita One"/>
                <a:ea typeface="Lilita One"/>
                <a:cs typeface="Lilita One"/>
                <a:sym typeface="Lilita One"/>
              </a:rPr>
              <a:t>PREGUNTA PROBLEMA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554317" y="4307577"/>
            <a:ext cx="13179366" cy="33398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94"/>
              </a:lnSpc>
            </a:pPr>
            <a:r>
              <a:rPr lang="en-US" sz="4781" b="1" dirty="0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¿</a:t>
            </a:r>
            <a:r>
              <a:rPr lang="en-US" sz="4781" b="1" dirty="0" err="1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Cómo</a:t>
            </a:r>
            <a:r>
              <a:rPr lang="en-US" sz="4781" b="1" dirty="0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 </a:t>
            </a:r>
            <a:r>
              <a:rPr lang="en-US" sz="4781" b="1" dirty="0" err="1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puede</a:t>
            </a:r>
            <a:r>
              <a:rPr lang="en-US" sz="4781" b="1" dirty="0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 una </a:t>
            </a:r>
            <a:r>
              <a:rPr lang="en-US" sz="4781" b="1" dirty="0" err="1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plataforma</a:t>
            </a:r>
            <a:r>
              <a:rPr lang="en-US" sz="4781" b="1" dirty="0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 web </a:t>
            </a:r>
            <a:r>
              <a:rPr lang="en-US" sz="4781" b="1" dirty="0" err="1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centralizar</a:t>
            </a:r>
            <a:r>
              <a:rPr lang="en-US" sz="4781" b="1" dirty="0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 la </a:t>
            </a:r>
            <a:r>
              <a:rPr lang="en-US" sz="4781" b="1" dirty="0" err="1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información</a:t>
            </a:r>
            <a:r>
              <a:rPr lang="en-US" sz="4781" b="1" dirty="0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 </a:t>
            </a:r>
            <a:r>
              <a:rPr lang="en-US" sz="4781" b="1" dirty="0" err="1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relacionada</a:t>
            </a:r>
            <a:r>
              <a:rPr lang="en-US" sz="4781" b="1" dirty="0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 con mascotas extraviadas para </a:t>
            </a:r>
            <a:r>
              <a:rPr lang="en-US" sz="4781" b="1" dirty="0" err="1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apoyar</a:t>
            </a:r>
            <a:r>
              <a:rPr lang="en-US" sz="4781" b="1" dirty="0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 </a:t>
            </a:r>
            <a:r>
              <a:rPr lang="en-US" sz="4781" b="1" dirty="0" err="1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su</a:t>
            </a:r>
            <a:r>
              <a:rPr lang="en-US" sz="4781" b="1" dirty="0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 búsqueda y </a:t>
            </a:r>
            <a:r>
              <a:rPr lang="en-US" sz="4781" b="1" dirty="0" err="1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recuperación</a:t>
            </a:r>
            <a:r>
              <a:rPr lang="en-US" sz="4781" b="1" dirty="0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 en la ciudad de Bogotá D.C.?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6913821" cy="4114800"/>
          </a:xfrm>
          <a:custGeom>
            <a:avLst/>
            <a:gdLst/>
            <a:ahLst/>
            <a:cxnLst/>
            <a:rect l="l" t="t" r="r" b="b"/>
            <a:pathLst>
              <a:path w="6913821" h="4114800">
                <a:moveTo>
                  <a:pt x="0" y="0"/>
                </a:moveTo>
                <a:lnTo>
                  <a:pt x="6913821" y="0"/>
                </a:lnTo>
                <a:lnTo>
                  <a:pt x="691382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2569708">
            <a:off x="-195070" y="689565"/>
            <a:ext cx="1914908" cy="3522405"/>
          </a:xfrm>
          <a:custGeom>
            <a:avLst/>
            <a:gdLst/>
            <a:ahLst/>
            <a:cxnLst/>
            <a:rect l="l" t="t" r="r" b="b"/>
            <a:pathLst>
              <a:path w="1914908" h="3522405">
                <a:moveTo>
                  <a:pt x="0" y="0"/>
                </a:moveTo>
                <a:lnTo>
                  <a:pt x="1914907" y="0"/>
                </a:lnTo>
                <a:lnTo>
                  <a:pt x="1914907" y="3522405"/>
                </a:lnTo>
                <a:lnTo>
                  <a:pt x="0" y="35224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1374179" y="6172200"/>
            <a:ext cx="6913821" cy="4114800"/>
          </a:xfrm>
          <a:custGeom>
            <a:avLst/>
            <a:gdLst/>
            <a:ahLst/>
            <a:cxnLst/>
            <a:rect l="l" t="t" r="r" b="b"/>
            <a:pathLst>
              <a:path w="6913821" h="4114800">
                <a:moveTo>
                  <a:pt x="6913821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913821" y="0"/>
                </a:lnTo>
                <a:lnTo>
                  <a:pt x="6913821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544408" y="8399971"/>
            <a:ext cx="2930897" cy="2930897"/>
          </a:xfrm>
          <a:custGeom>
            <a:avLst/>
            <a:gdLst/>
            <a:ahLst/>
            <a:cxnLst/>
            <a:rect l="l" t="t" r="r" b="b"/>
            <a:pathLst>
              <a:path w="2930897" h="2930897">
                <a:moveTo>
                  <a:pt x="0" y="0"/>
                </a:moveTo>
                <a:lnTo>
                  <a:pt x="2930897" y="0"/>
                </a:lnTo>
                <a:lnTo>
                  <a:pt x="2930897" y="2930897"/>
                </a:lnTo>
                <a:lnTo>
                  <a:pt x="0" y="29308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544408" y="8651181"/>
            <a:ext cx="2294220" cy="1993886"/>
          </a:xfrm>
          <a:custGeom>
            <a:avLst/>
            <a:gdLst/>
            <a:ahLst/>
            <a:cxnLst/>
            <a:rect l="l" t="t" r="r" b="b"/>
            <a:pathLst>
              <a:path w="2294220" h="1993886">
                <a:moveTo>
                  <a:pt x="0" y="0"/>
                </a:moveTo>
                <a:lnTo>
                  <a:pt x="2294220" y="0"/>
                </a:lnTo>
                <a:lnTo>
                  <a:pt x="2294220" y="1993885"/>
                </a:lnTo>
                <a:lnTo>
                  <a:pt x="0" y="19938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1724017" flipH="1">
            <a:off x="16555772" y="6096708"/>
            <a:ext cx="1904654" cy="3503543"/>
          </a:xfrm>
          <a:custGeom>
            <a:avLst/>
            <a:gdLst/>
            <a:ahLst/>
            <a:cxnLst/>
            <a:rect l="l" t="t" r="r" b="b"/>
            <a:pathLst>
              <a:path w="1904654" h="3503543">
                <a:moveTo>
                  <a:pt x="1904653" y="0"/>
                </a:moveTo>
                <a:lnTo>
                  <a:pt x="0" y="0"/>
                </a:lnTo>
                <a:lnTo>
                  <a:pt x="0" y="3503544"/>
                </a:lnTo>
                <a:lnTo>
                  <a:pt x="1904653" y="3503544"/>
                </a:lnTo>
                <a:lnTo>
                  <a:pt x="190465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5890365">
            <a:off x="17238110" y="8787417"/>
            <a:ext cx="970351" cy="1784927"/>
          </a:xfrm>
          <a:custGeom>
            <a:avLst/>
            <a:gdLst/>
            <a:ahLst/>
            <a:cxnLst/>
            <a:rect l="l" t="t" r="r" b="b"/>
            <a:pathLst>
              <a:path w="970351" h="1784927">
                <a:moveTo>
                  <a:pt x="0" y="0"/>
                </a:moveTo>
                <a:lnTo>
                  <a:pt x="970351" y="0"/>
                </a:lnTo>
                <a:lnTo>
                  <a:pt x="970351" y="1784927"/>
                </a:lnTo>
                <a:lnTo>
                  <a:pt x="0" y="17849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10688091">
            <a:off x="2406268" y="216322"/>
            <a:ext cx="962496" cy="1231100"/>
          </a:xfrm>
          <a:custGeom>
            <a:avLst/>
            <a:gdLst/>
            <a:ahLst/>
            <a:cxnLst/>
            <a:rect l="l" t="t" r="r" b="b"/>
            <a:pathLst>
              <a:path w="962496" h="1231100">
                <a:moveTo>
                  <a:pt x="0" y="0"/>
                </a:moveTo>
                <a:lnTo>
                  <a:pt x="962496" y="0"/>
                </a:lnTo>
                <a:lnTo>
                  <a:pt x="962496" y="1231100"/>
                </a:lnTo>
                <a:lnTo>
                  <a:pt x="0" y="12311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267603">
            <a:off x="15463627" y="7370994"/>
            <a:ext cx="972775" cy="1244247"/>
          </a:xfrm>
          <a:custGeom>
            <a:avLst/>
            <a:gdLst/>
            <a:ahLst/>
            <a:cxnLst/>
            <a:rect l="l" t="t" r="r" b="b"/>
            <a:pathLst>
              <a:path w="972775" h="1244247">
                <a:moveTo>
                  <a:pt x="0" y="0"/>
                </a:moveTo>
                <a:lnTo>
                  <a:pt x="972775" y="0"/>
                </a:lnTo>
                <a:lnTo>
                  <a:pt x="972775" y="1244247"/>
                </a:lnTo>
                <a:lnTo>
                  <a:pt x="0" y="12442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191796" y="-1340756"/>
            <a:ext cx="4135007" cy="4135007"/>
          </a:xfrm>
          <a:custGeom>
            <a:avLst/>
            <a:gdLst/>
            <a:ahLst/>
            <a:cxnLst/>
            <a:rect l="l" t="t" r="r" b="b"/>
            <a:pathLst>
              <a:path w="4135007" h="4135007">
                <a:moveTo>
                  <a:pt x="0" y="0"/>
                </a:moveTo>
                <a:lnTo>
                  <a:pt x="4135008" y="0"/>
                </a:lnTo>
                <a:lnTo>
                  <a:pt x="4135008" y="4135007"/>
                </a:lnTo>
                <a:lnTo>
                  <a:pt x="0" y="413500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6483308" y="200985"/>
            <a:ext cx="2343234" cy="2036483"/>
          </a:xfrm>
          <a:custGeom>
            <a:avLst/>
            <a:gdLst/>
            <a:ahLst/>
            <a:cxnLst/>
            <a:rect l="l" t="t" r="r" b="b"/>
            <a:pathLst>
              <a:path w="2343234" h="2036483">
                <a:moveTo>
                  <a:pt x="0" y="0"/>
                </a:moveTo>
                <a:lnTo>
                  <a:pt x="2343233" y="0"/>
                </a:lnTo>
                <a:lnTo>
                  <a:pt x="2343233" y="2036483"/>
                </a:lnTo>
                <a:lnTo>
                  <a:pt x="0" y="203648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97662" y="-324778"/>
            <a:ext cx="810079" cy="1051525"/>
          </a:xfrm>
          <a:custGeom>
            <a:avLst/>
            <a:gdLst/>
            <a:ahLst/>
            <a:cxnLst/>
            <a:rect l="l" t="t" r="r" b="b"/>
            <a:pathLst>
              <a:path w="810079" h="1051525">
                <a:moveTo>
                  <a:pt x="0" y="0"/>
                </a:moveTo>
                <a:lnTo>
                  <a:pt x="810079" y="0"/>
                </a:lnTo>
                <a:lnTo>
                  <a:pt x="810079" y="1051525"/>
                </a:lnTo>
                <a:lnTo>
                  <a:pt x="0" y="105152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4606642" y="8895023"/>
            <a:ext cx="810079" cy="1051525"/>
          </a:xfrm>
          <a:custGeom>
            <a:avLst/>
            <a:gdLst/>
            <a:ahLst/>
            <a:cxnLst/>
            <a:rect l="l" t="t" r="r" b="b"/>
            <a:pathLst>
              <a:path w="810079" h="1051525">
                <a:moveTo>
                  <a:pt x="0" y="0"/>
                </a:moveTo>
                <a:lnTo>
                  <a:pt x="810079" y="0"/>
                </a:lnTo>
                <a:lnTo>
                  <a:pt x="810079" y="1051525"/>
                </a:lnTo>
                <a:lnTo>
                  <a:pt x="0" y="105152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2457106" y="268959"/>
            <a:ext cx="13373787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537122"/>
                </a:solidFill>
                <a:latin typeface="Lilita One"/>
                <a:ea typeface="Lilita One"/>
                <a:cs typeface="Lilita One"/>
                <a:sym typeface="Lilita One"/>
              </a:rPr>
              <a:t>ALCANCE</a:t>
            </a:r>
          </a:p>
        </p:txBody>
      </p:sp>
      <p:sp>
        <p:nvSpPr>
          <p:cNvPr id="16" name="Freeform 16"/>
          <p:cNvSpPr/>
          <p:nvPr/>
        </p:nvSpPr>
        <p:spPr>
          <a:xfrm>
            <a:off x="1938483" y="831872"/>
            <a:ext cx="9035316" cy="9101509"/>
          </a:xfrm>
          <a:custGeom>
            <a:avLst/>
            <a:gdLst/>
            <a:ahLst/>
            <a:cxnLst/>
            <a:rect l="l" t="t" r="r" b="b"/>
            <a:pathLst>
              <a:path w="9035316" h="9101509">
                <a:moveTo>
                  <a:pt x="0" y="0"/>
                </a:moveTo>
                <a:lnTo>
                  <a:pt x="9035317" y="0"/>
                </a:lnTo>
                <a:lnTo>
                  <a:pt x="9035317" y="9101509"/>
                </a:lnTo>
                <a:lnTo>
                  <a:pt x="0" y="910150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11244014" y="4067175"/>
            <a:ext cx="5526900" cy="2947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8535" lvl="1" indent="-304268" algn="just">
              <a:lnSpc>
                <a:spcPts val="3946"/>
              </a:lnSpc>
              <a:buFont typeface="Arial"/>
              <a:buChar char="•"/>
            </a:pPr>
            <a:r>
              <a:rPr lang="en-US" sz="2818" dirty="0" err="1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Rastreo</a:t>
            </a:r>
            <a:r>
              <a:rPr lang="en-US" sz="2818" dirty="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 en </a:t>
            </a:r>
            <a:r>
              <a:rPr lang="en-US" sz="2818" dirty="0" err="1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tiempo</a:t>
            </a:r>
            <a:r>
              <a:rPr lang="en-US" sz="2818" dirty="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 real de mascotas.</a:t>
            </a:r>
          </a:p>
          <a:p>
            <a:pPr marL="608535" lvl="1" indent="-304268" algn="just">
              <a:lnSpc>
                <a:spcPts val="3946"/>
              </a:lnSpc>
              <a:buFont typeface="Arial"/>
              <a:buChar char="•"/>
            </a:pPr>
            <a:r>
              <a:rPr lang="en-US" sz="2818" dirty="0" err="1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Monitoreo</a:t>
            </a:r>
            <a:r>
              <a:rPr lang="en-US" sz="2818" dirty="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 continuo </a:t>
            </a:r>
            <a:r>
              <a:rPr lang="en-US" sz="2818" dirty="0" err="1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mediante</a:t>
            </a:r>
            <a:r>
              <a:rPr lang="en-US" sz="2818" dirty="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 GPS.</a:t>
            </a:r>
          </a:p>
          <a:p>
            <a:pPr marL="608535" lvl="1" indent="-304268" algn="just">
              <a:lnSpc>
                <a:spcPts val="3946"/>
              </a:lnSpc>
              <a:buFont typeface="Arial"/>
              <a:buChar char="•"/>
            </a:pPr>
            <a:r>
              <a:rPr lang="en-US" sz="2818" dirty="0" err="1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Cobertura</a:t>
            </a:r>
            <a:r>
              <a:rPr lang="en-US" sz="2818" dirty="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 </a:t>
            </a:r>
            <a:r>
              <a:rPr lang="en-US" sz="2818" dirty="0" err="1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fuera</a:t>
            </a:r>
            <a:r>
              <a:rPr lang="en-US" sz="2818" dirty="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 de Bogotá D.C.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465938" y="3150502"/>
            <a:ext cx="6745736" cy="6647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816"/>
              </a:lnSpc>
            </a:pPr>
            <a:endParaRPr dirty="0"/>
          </a:p>
          <a:p>
            <a:pPr marL="588571" lvl="1" indent="-294286" algn="just">
              <a:lnSpc>
                <a:spcPts val="3816"/>
              </a:lnSpc>
              <a:buFont typeface="Arial"/>
              <a:buChar char="•"/>
            </a:pPr>
            <a:r>
              <a:rPr lang="en-US" sz="2726" dirty="0" err="1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Registro</a:t>
            </a:r>
            <a:r>
              <a:rPr lang="en-US" sz="2726" dirty="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 e </a:t>
            </a:r>
            <a:r>
              <a:rPr lang="en-US" sz="2726" dirty="0" err="1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inicio</a:t>
            </a:r>
            <a:r>
              <a:rPr lang="en-US" sz="2726" dirty="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 de </a:t>
            </a:r>
            <a:r>
              <a:rPr lang="en-US" sz="2726" dirty="0" err="1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sesión</a:t>
            </a:r>
            <a:r>
              <a:rPr lang="en-US" sz="2726" dirty="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 de </a:t>
            </a:r>
            <a:r>
              <a:rPr lang="en-US" sz="2726" dirty="0" err="1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clientes</a:t>
            </a:r>
            <a:r>
              <a:rPr lang="en-US" sz="2726" dirty="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.</a:t>
            </a:r>
          </a:p>
          <a:p>
            <a:pPr marL="588571" lvl="1" indent="-294286" algn="just">
              <a:lnSpc>
                <a:spcPts val="3816"/>
              </a:lnSpc>
              <a:buFont typeface="Arial"/>
              <a:buChar char="•"/>
            </a:pPr>
            <a:r>
              <a:rPr lang="en-US" sz="2726" dirty="0" err="1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Publicación</a:t>
            </a:r>
            <a:r>
              <a:rPr lang="en-US" sz="2726" dirty="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 y consulta de mascotas </a:t>
            </a:r>
            <a:r>
              <a:rPr lang="en-US" sz="2726" dirty="0" err="1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perdidas</a:t>
            </a:r>
            <a:r>
              <a:rPr lang="en-US" sz="2726" dirty="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.</a:t>
            </a:r>
          </a:p>
          <a:p>
            <a:pPr marL="588571" lvl="1" indent="-294286" algn="just">
              <a:lnSpc>
                <a:spcPts val="3816"/>
              </a:lnSpc>
              <a:buFont typeface="Arial"/>
              <a:buChar char="•"/>
            </a:pPr>
            <a:r>
              <a:rPr lang="en-US" sz="2726" dirty="0" err="1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Registro</a:t>
            </a:r>
            <a:r>
              <a:rPr lang="en-US" sz="2726" dirty="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 de </a:t>
            </a:r>
            <a:r>
              <a:rPr lang="en-US" sz="2726" dirty="0" err="1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posibles</a:t>
            </a:r>
            <a:r>
              <a:rPr lang="en-US" sz="2726" dirty="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 </a:t>
            </a:r>
            <a:r>
              <a:rPr lang="en-US" sz="2726" dirty="0" err="1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avistamientos</a:t>
            </a:r>
            <a:r>
              <a:rPr lang="en-US" sz="2726" dirty="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 o </a:t>
            </a:r>
            <a:r>
              <a:rPr lang="en-US" sz="2726" dirty="0" err="1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coincidencias</a:t>
            </a:r>
            <a:r>
              <a:rPr lang="en-US" sz="2726" dirty="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.</a:t>
            </a:r>
          </a:p>
          <a:p>
            <a:pPr marL="588571" lvl="1" indent="-294286" algn="just">
              <a:lnSpc>
                <a:spcPts val="3816"/>
              </a:lnSpc>
              <a:buFont typeface="Arial"/>
              <a:buChar char="•"/>
            </a:pPr>
            <a:r>
              <a:rPr lang="en-US" sz="2726" dirty="0" err="1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Uso</a:t>
            </a:r>
            <a:r>
              <a:rPr lang="en-US" sz="2726" dirty="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 </a:t>
            </a:r>
            <a:r>
              <a:rPr lang="en-US" sz="2726" dirty="0" err="1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opcional</a:t>
            </a:r>
            <a:r>
              <a:rPr lang="en-US" sz="2726" dirty="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 de </a:t>
            </a:r>
            <a:r>
              <a:rPr lang="en-US" sz="2726" dirty="0" err="1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geolocalización</a:t>
            </a:r>
            <a:r>
              <a:rPr lang="en-US" sz="2726" dirty="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 </a:t>
            </a:r>
            <a:r>
              <a:rPr lang="en-US" sz="2726" dirty="0" err="1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como</a:t>
            </a:r>
            <a:r>
              <a:rPr lang="en-US" sz="2726" dirty="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 </a:t>
            </a:r>
            <a:r>
              <a:rPr lang="en-US" sz="2726" dirty="0" err="1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apoyo</a:t>
            </a:r>
            <a:r>
              <a:rPr lang="en-US" sz="2726" dirty="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 en los </a:t>
            </a:r>
            <a:r>
              <a:rPr lang="en-US" sz="2726" dirty="0" err="1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reportes</a:t>
            </a:r>
            <a:r>
              <a:rPr lang="en-US" sz="2726" dirty="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.</a:t>
            </a:r>
          </a:p>
          <a:p>
            <a:pPr marL="588571" lvl="1" indent="-294286" algn="just">
              <a:lnSpc>
                <a:spcPts val="3816"/>
              </a:lnSpc>
              <a:buFont typeface="Arial"/>
              <a:buChar char="•"/>
            </a:pPr>
            <a:r>
              <a:rPr lang="en-US" sz="2726" dirty="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Consulta de </a:t>
            </a:r>
            <a:r>
              <a:rPr lang="en-US" sz="2726" dirty="0" err="1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información</a:t>
            </a:r>
            <a:r>
              <a:rPr lang="en-US" sz="2726" dirty="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 </a:t>
            </a:r>
            <a:r>
              <a:rPr lang="en-US" sz="2726" dirty="0" err="1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organizada</a:t>
            </a:r>
            <a:r>
              <a:rPr lang="en-US" sz="2726" dirty="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 por </a:t>
            </a:r>
            <a:r>
              <a:rPr lang="en-US" sz="2726" dirty="0" err="1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localidades</a:t>
            </a:r>
            <a:r>
              <a:rPr lang="en-US" sz="2726" dirty="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.</a:t>
            </a:r>
          </a:p>
          <a:p>
            <a:pPr marL="588571" lvl="1" indent="-294286" algn="just">
              <a:lnSpc>
                <a:spcPts val="3816"/>
              </a:lnSpc>
              <a:buFont typeface="Arial"/>
              <a:buChar char="•"/>
            </a:pPr>
            <a:r>
              <a:rPr lang="en-US" sz="2726" dirty="0" err="1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Gestión</a:t>
            </a:r>
            <a:r>
              <a:rPr lang="en-US" sz="2726" dirty="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 de </a:t>
            </a:r>
            <a:r>
              <a:rPr lang="en-US" sz="2726" dirty="0" err="1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denuncias</a:t>
            </a:r>
            <a:r>
              <a:rPr lang="en-US" sz="2726" dirty="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 y </a:t>
            </a:r>
            <a:r>
              <a:rPr lang="en-US" sz="2726" dirty="0" err="1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situaciones</a:t>
            </a:r>
            <a:r>
              <a:rPr lang="en-US" sz="2726" dirty="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 que </a:t>
            </a:r>
            <a:r>
              <a:rPr lang="en-US" sz="2726" dirty="0" err="1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requieran</a:t>
            </a:r>
            <a:r>
              <a:rPr lang="en-US" sz="2726" dirty="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 </a:t>
            </a:r>
            <a:r>
              <a:rPr lang="en-US" sz="2726" dirty="0" err="1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intervención</a:t>
            </a:r>
            <a:r>
              <a:rPr lang="en-US" sz="2726" dirty="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 </a:t>
            </a:r>
            <a:r>
              <a:rPr lang="en-US" sz="2726" dirty="0" err="1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administrativa</a:t>
            </a:r>
            <a:r>
              <a:rPr lang="en-US" sz="2726" dirty="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.</a:t>
            </a:r>
          </a:p>
          <a:p>
            <a:pPr algn="just">
              <a:lnSpc>
                <a:spcPts val="3676"/>
              </a:lnSpc>
            </a:pPr>
            <a:endParaRPr lang="en-US" sz="2726" dirty="0">
              <a:solidFill>
                <a:srgbClr val="000000"/>
              </a:solidFill>
              <a:latin typeface="Comic Sans"/>
              <a:ea typeface="Comic Sans"/>
              <a:cs typeface="Comic Sans"/>
              <a:sym typeface="Comic Sans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1957303" y="3187127"/>
            <a:ext cx="3812717" cy="5624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5"/>
              </a:lnSpc>
              <a:spcBef>
                <a:spcPct val="0"/>
              </a:spcBef>
            </a:pPr>
            <a:r>
              <a:rPr lang="en-US" sz="330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No incluye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465938" y="2252757"/>
            <a:ext cx="6997689" cy="1248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13"/>
              </a:lnSpc>
            </a:pPr>
            <a:r>
              <a:rPr lang="en-US" sz="2366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La </a:t>
            </a:r>
            <a:r>
              <a:rPr lang="en-US" sz="2366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plataforma</a:t>
            </a:r>
            <a:r>
              <a:rPr lang="en-US" sz="2366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2366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estará</a:t>
            </a:r>
            <a:r>
              <a:rPr lang="en-US" sz="2366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2366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orientada</a:t>
            </a:r>
            <a:r>
              <a:rPr lang="en-US" sz="2366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2366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exclusivamente</a:t>
            </a:r>
            <a:r>
              <a:rPr lang="en-US" sz="2366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a la ciudad de Bogotá D.C. y </a:t>
            </a:r>
            <a:r>
              <a:rPr lang="en-US" sz="2366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permitirá</a:t>
            </a:r>
            <a:r>
              <a:rPr lang="en-US" sz="2366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6913821" cy="4114800"/>
          </a:xfrm>
          <a:custGeom>
            <a:avLst/>
            <a:gdLst/>
            <a:ahLst/>
            <a:cxnLst/>
            <a:rect l="l" t="t" r="r" b="b"/>
            <a:pathLst>
              <a:path w="6913821" h="4114800">
                <a:moveTo>
                  <a:pt x="0" y="0"/>
                </a:moveTo>
                <a:lnTo>
                  <a:pt x="6913821" y="0"/>
                </a:lnTo>
                <a:lnTo>
                  <a:pt x="691382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2569708">
            <a:off x="-354752" y="476265"/>
            <a:ext cx="1914908" cy="3522405"/>
          </a:xfrm>
          <a:custGeom>
            <a:avLst/>
            <a:gdLst/>
            <a:ahLst/>
            <a:cxnLst/>
            <a:rect l="l" t="t" r="r" b="b"/>
            <a:pathLst>
              <a:path w="1914908" h="3522405">
                <a:moveTo>
                  <a:pt x="0" y="0"/>
                </a:moveTo>
                <a:lnTo>
                  <a:pt x="1914907" y="0"/>
                </a:lnTo>
                <a:lnTo>
                  <a:pt x="1914907" y="3522405"/>
                </a:lnTo>
                <a:lnTo>
                  <a:pt x="0" y="35224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1374179" y="6172200"/>
            <a:ext cx="6913821" cy="4114800"/>
          </a:xfrm>
          <a:custGeom>
            <a:avLst/>
            <a:gdLst/>
            <a:ahLst/>
            <a:cxnLst/>
            <a:rect l="l" t="t" r="r" b="b"/>
            <a:pathLst>
              <a:path w="6913821" h="4114800">
                <a:moveTo>
                  <a:pt x="6913821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913821" y="0"/>
                </a:lnTo>
                <a:lnTo>
                  <a:pt x="6913821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544408" y="8399971"/>
            <a:ext cx="2930897" cy="2930897"/>
          </a:xfrm>
          <a:custGeom>
            <a:avLst/>
            <a:gdLst/>
            <a:ahLst/>
            <a:cxnLst/>
            <a:rect l="l" t="t" r="r" b="b"/>
            <a:pathLst>
              <a:path w="2930897" h="2930897">
                <a:moveTo>
                  <a:pt x="0" y="0"/>
                </a:moveTo>
                <a:lnTo>
                  <a:pt x="2930897" y="0"/>
                </a:lnTo>
                <a:lnTo>
                  <a:pt x="2930897" y="2930897"/>
                </a:lnTo>
                <a:lnTo>
                  <a:pt x="0" y="29308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544408" y="8651181"/>
            <a:ext cx="2294220" cy="1993886"/>
          </a:xfrm>
          <a:custGeom>
            <a:avLst/>
            <a:gdLst/>
            <a:ahLst/>
            <a:cxnLst/>
            <a:rect l="l" t="t" r="r" b="b"/>
            <a:pathLst>
              <a:path w="2294220" h="1993886">
                <a:moveTo>
                  <a:pt x="0" y="0"/>
                </a:moveTo>
                <a:lnTo>
                  <a:pt x="2294220" y="0"/>
                </a:lnTo>
                <a:lnTo>
                  <a:pt x="2294220" y="1993885"/>
                </a:lnTo>
                <a:lnTo>
                  <a:pt x="0" y="19938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1724017" flipH="1">
            <a:off x="17208186" y="5149365"/>
            <a:ext cx="1904654" cy="3503543"/>
          </a:xfrm>
          <a:custGeom>
            <a:avLst/>
            <a:gdLst/>
            <a:ahLst/>
            <a:cxnLst/>
            <a:rect l="l" t="t" r="r" b="b"/>
            <a:pathLst>
              <a:path w="1904654" h="3503543">
                <a:moveTo>
                  <a:pt x="1904653" y="0"/>
                </a:moveTo>
                <a:lnTo>
                  <a:pt x="0" y="0"/>
                </a:lnTo>
                <a:lnTo>
                  <a:pt x="0" y="3503544"/>
                </a:lnTo>
                <a:lnTo>
                  <a:pt x="1904653" y="3503544"/>
                </a:lnTo>
                <a:lnTo>
                  <a:pt x="190465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5890365">
            <a:off x="17238110" y="8787417"/>
            <a:ext cx="970351" cy="1784927"/>
          </a:xfrm>
          <a:custGeom>
            <a:avLst/>
            <a:gdLst/>
            <a:ahLst/>
            <a:cxnLst/>
            <a:rect l="l" t="t" r="r" b="b"/>
            <a:pathLst>
              <a:path w="970351" h="1784927">
                <a:moveTo>
                  <a:pt x="0" y="0"/>
                </a:moveTo>
                <a:lnTo>
                  <a:pt x="970351" y="0"/>
                </a:lnTo>
                <a:lnTo>
                  <a:pt x="970351" y="1784927"/>
                </a:lnTo>
                <a:lnTo>
                  <a:pt x="0" y="17849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10688091">
            <a:off x="2406268" y="216322"/>
            <a:ext cx="962496" cy="1231100"/>
          </a:xfrm>
          <a:custGeom>
            <a:avLst/>
            <a:gdLst/>
            <a:ahLst/>
            <a:cxnLst/>
            <a:rect l="l" t="t" r="r" b="b"/>
            <a:pathLst>
              <a:path w="962496" h="1231100">
                <a:moveTo>
                  <a:pt x="0" y="0"/>
                </a:moveTo>
                <a:lnTo>
                  <a:pt x="962496" y="0"/>
                </a:lnTo>
                <a:lnTo>
                  <a:pt x="962496" y="1231100"/>
                </a:lnTo>
                <a:lnTo>
                  <a:pt x="0" y="12311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267603">
            <a:off x="15463627" y="7370994"/>
            <a:ext cx="972775" cy="1244247"/>
          </a:xfrm>
          <a:custGeom>
            <a:avLst/>
            <a:gdLst/>
            <a:ahLst/>
            <a:cxnLst/>
            <a:rect l="l" t="t" r="r" b="b"/>
            <a:pathLst>
              <a:path w="972775" h="1244247">
                <a:moveTo>
                  <a:pt x="0" y="0"/>
                </a:moveTo>
                <a:lnTo>
                  <a:pt x="972775" y="0"/>
                </a:lnTo>
                <a:lnTo>
                  <a:pt x="972775" y="1244247"/>
                </a:lnTo>
                <a:lnTo>
                  <a:pt x="0" y="12442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191796" y="-1340756"/>
            <a:ext cx="4135007" cy="4135007"/>
          </a:xfrm>
          <a:custGeom>
            <a:avLst/>
            <a:gdLst/>
            <a:ahLst/>
            <a:cxnLst/>
            <a:rect l="l" t="t" r="r" b="b"/>
            <a:pathLst>
              <a:path w="4135007" h="4135007">
                <a:moveTo>
                  <a:pt x="0" y="0"/>
                </a:moveTo>
                <a:lnTo>
                  <a:pt x="4135008" y="0"/>
                </a:lnTo>
                <a:lnTo>
                  <a:pt x="4135008" y="4135007"/>
                </a:lnTo>
                <a:lnTo>
                  <a:pt x="0" y="413500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6483308" y="200985"/>
            <a:ext cx="2343234" cy="2036483"/>
          </a:xfrm>
          <a:custGeom>
            <a:avLst/>
            <a:gdLst/>
            <a:ahLst/>
            <a:cxnLst/>
            <a:rect l="l" t="t" r="r" b="b"/>
            <a:pathLst>
              <a:path w="2343234" h="2036483">
                <a:moveTo>
                  <a:pt x="0" y="0"/>
                </a:moveTo>
                <a:lnTo>
                  <a:pt x="2343233" y="0"/>
                </a:lnTo>
                <a:lnTo>
                  <a:pt x="2343233" y="2036483"/>
                </a:lnTo>
                <a:lnTo>
                  <a:pt x="0" y="203648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97662" y="-324778"/>
            <a:ext cx="810079" cy="1051525"/>
          </a:xfrm>
          <a:custGeom>
            <a:avLst/>
            <a:gdLst/>
            <a:ahLst/>
            <a:cxnLst/>
            <a:rect l="l" t="t" r="r" b="b"/>
            <a:pathLst>
              <a:path w="810079" h="1051525">
                <a:moveTo>
                  <a:pt x="0" y="0"/>
                </a:moveTo>
                <a:lnTo>
                  <a:pt x="810079" y="0"/>
                </a:lnTo>
                <a:lnTo>
                  <a:pt x="810079" y="1051525"/>
                </a:lnTo>
                <a:lnTo>
                  <a:pt x="0" y="105152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4606642" y="8895023"/>
            <a:ext cx="810079" cy="1051525"/>
          </a:xfrm>
          <a:custGeom>
            <a:avLst/>
            <a:gdLst/>
            <a:ahLst/>
            <a:cxnLst/>
            <a:rect l="l" t="t" r="r" b="b"/>
            <a:pathLst>
              <a:path w="810079" h="1051525">
                <a:moveTo>
                  <a:pt x="0" y="0"/>
                </a:moveTo>
                <a:lnTo>
                  <a:pt x="810079" y="0"/>
                </a:lnTo>
                <a:lnTo>
                  <a:pt x="810079" y="1051525"/>
                </a:lnTo>
                <a:lnTo>
                  <a:pt x="0" y="105152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2457106" y="555651"/>
            <a:ext cx="13373787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537122"/>
                </a:solidFill>
                <a:latin typeface="Lilita One"/>
                <a:ea typeface="Lilita One"/>
                <a:cs typeface="Lilita One"/>
                <a:sym typeface="Lilita One"/>
              </a:rPr>
              <a:t>JUSTIFICACIÓN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8700" y="2743948"/>
            <a:ext cx="16230600" cy="5249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02018" lvl="1" indent="-401009" algn="just">
              <a:lnSpc>
                <a:spcPts val="5200"/>
              </a:lnSpc>
              <a:buFont typeface="Arial"/>
              <a:buChar char="•"/>
            </a:pPr>
            <a:r>
              <a:rPr lang="en-US" sz="3714" dirty="0" err="1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Centraliza</a:t>
            </a:r>
            <a:r>
              <a:rPr lang="en-US" sz="3714" dirty="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 la </a:t>
            </a:r>
            <a:r>
              <a:rPr lang="en-US" sz="3714" dirty="0" err="1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información</a:t>
            </a:r>
            <a:r>
              <a:rPr lang="en-US" sz="3714" dirty="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 </a:t>
            </a:r>
            <a:r>
              <a:rPr lang="en-US" sz="3714" dirty="0" err="1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relacionada</a:t>
            </a:r>
            <a:r>
              <a:rPr lang="en-US" sz="3714" dirty="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 con mascotas </a:t>
            </a:r>
            <a:r>
              <a:rPr lang="en-US" sz="3714" dirty="0" err="1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perdidas</a:t>
            </a:r>
            <a:r>
              <a:rPr lang="en-US" sz="3714" dirty="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 en una sola </a:t>
            </a:r>
            <a:r>
              <a:rPr lang="en-US" sz="3714" dirty="0" err="1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plataforma</a:t>
            </a:r>
            <a:r>
              <a:rPr lang="en-US" sz="3714" dirty="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.</a:t>
            </a:r>
          </a:p>
          <a:p>
            <a:pPr marL="802018" lvl="1" indent="-401009" algn="just">
              <a:lnSpc>
                <a:spcPts val="5200"/>
              </a:lnSpc>
              <a:buFont typeface="Arial"/>
              <a:buChar char="•"/>
            </a:pPr>
            <a:r>
              <a:rPr lang="en-US" sz="3714" dirty="0" err="1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Facilita</a:t>
            </a:r>
            <a:r>
              <a:rPr lang="en-US" sz="3714" dirty="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 la </a:t>
            </a:r>
            <a:r>
              <a:rPr lang="en-US" sz="3714" dirty="0" err="1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comunicación</a:t>
            </a:r>
            <a:r>
              <a:rPr lang="en-US" sz="3714" dirty="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 entre los </a:t>
            </a:r>
            <a:r>
              <a:rPr lang="en-US" sz="3714" dirty="0" err="1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clientes</a:t>
            </a:r>
            <a:r>
              <a:rPr lang="en-US" sz="3714" dirty="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 que </a:t>
            </a:r>
            <a:r>
              <a:rPr lang="en-US" sz="3714" dirty="0" err="1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buscan</a:t>
            </a:r>
            <a:r>
              <a:rPr lang="en-US" sz="3714" dirty="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 una </a:t>
            </a:r>
            <a:r>
              <a:rPr lang="en-US" sz="3714" dirty="0" err="1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mascota</a:t>
            </a:r>
            <a:r>
              <a:rPr lang="en-US" sz="3714" dirty="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 y </a:t>
            </a:r>
            <a:r>
              <a:rPr lang="en-US" sz="3714" dirty="0" err="1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quienes</a:t>
            </a:r>
            <a:r>
              <a:rPr lang="en-US" sz="3714" dirty="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 </a:t>
            </a:r>
            <a:r>
              <a:rPr lang="en-US" sz="3714" dirty="0" err="1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puedan</a:t>
            </a:r>
            <a:r>
              <a:rPr lang="en-US" sz="3714" dirty="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 </a:t>
            </a:r>
            <a:r>
              <a:rPr lang="en-US" sz="3714" dirty="0" err="1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aportar</a:t>
            </a:r>
            <a:r>
              <a:rPr lang="en-US" sz="3714" dirty="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 </a:t>
            </a:r>
            <a:r>
              <a:rPr lang="en-US" sz="3714" dirty="0" err="1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información</a:t>
            </a:r>
            <a:r>
              <a:rPr lang="en-US" sz="3714" dirty="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.</a:t>
            </a:r>
          </a:p>
          <a:p>
            <a:pPr marL="802018" lvl="1" indent="-401009" algn="just">
              <a:lnSpc>
                <a:spcPts val="5200"/>
              </a:lnSpc>
              <a:buFont typeface="Arial"/>
              <a:buChar char="•"/>
            </a:pPr>
            <a:r>
              <a:rPr lang="en-US" sz="3714" dirty="0" err="1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Permite</a:t>
            </a:r>
            <a:r>
              <a:rPr lang="en-US" sz="3714" dirty="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 </a:t>
            </a:r>
            <a:r>
              <a:rPr lang="en-US" sz="3714" dirty="0" err="1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organizar</a:t>
            </a:r>
            <a:r>
              <a:rPr lang="en-US" sz="3714" dirty="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 los </a:t>
            </a:r>
            <a:r>
              <a:rPr lang="en-US" sz="3714" dirty="0" err="1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reportes</a:t>
            </a:r>
            <a:r>
              <a:rPr lang="en-US" sz="3714" dirty="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 de forma </a:t>
            </a:r>
            <a:r>
              <a:rPr lang="en-US" sz="3714" dirty="0" err="1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más</a:t>
            </a:r>
            <a:r>
              <a:rPr lang="en-US" sz="3714" dirty="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 </a:t>
            </a:r>
            <a:r>
              <a:rPr lang="en-US" sz="3714" dirty="0" err="1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eficiente</a:t>
            </a:r>
            <a:r>
              <a:rPr lang="en-US" sz="3714" dirty="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.</a:t>
            </a:r>
          </a:p>
          <a:p>
            <a:pPr marL="802018" lvl="1" indent="-401009" algn="just">
              <a:lnSpc>
                <a:spcPts val="5200"/>
              </a:lnSpc>
              <a:buFont typeface="Arial"/>
              <a:buChar char="•"/>
            </a:pPr>
            <a:r>
              <a:rPr lang="en-US" sz="3714" dirty="0" err="1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Contribuye</a:t>
            </a:r>
            <a:r>
              <a:rPr lang="en-US" sz="3714" dirty="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 a </a:t>
            </a:r>
            <a:r>
              <a:rPr lang="en-US" sz="3714" dirty="0" err="1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reducir</a:t>
            </a:r>
            <a:r>
              <a:rPr lang="en-US" sz="3714" dirty="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 la </a:t>
            </a:r>
            <a:r>
              <a:rPr lang="en-US" sz="3714" dirty="0" err="1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dispersión</a:t>
            </a:r>
            <a:r>
              <a:rPr lang="en-US" sz="3714" dirty="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 de la </a:t>
            </a:r>
            <a:r>
              <a:rPr lang="en-US" sz="3714" dirty="0" err="1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información</a:t>
            </a:r>
            <a:r>
              <a:rPr lang="en-US" sz="3714" dirty="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.</a:t>
            </a:r>
          </a:p>
          <a:p>
            <a:pPr marL="802018" lvl="1" indent="-401009" algn="just">
              <a:lnSpc>
                <a:spcPts val="5200"/>
              </a:lnSpc>
              <a:buFont typeface="Arial"/>
              <a:buChar char="•"/>
            </a:pPr>
            <a:r>
              <a:rPr lang="en-US" sz="3714" dirty="0" err="1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Aumenta</a:t>
            </a:r>
            <a:r>
              <a:rPr lang="en-US" sz="3714" dirty="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 las </a:t>
            </a:r>
            <a:r>
              <a:rPr lang="en-US" sz="3714" dirty="0" err="1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posibilidades</a:t>
            </a:r>
            <a:r>
              <a:rPr lang="en-US" sz="3714" dirty="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 de </a:t>
            </a:r>
            <a:r>
              <a:rPr lang="en-US" sz="3714" dirty="0" err="1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recuperación</a:t>
            </a:r>
            <a:r>
              <a:rPr lang="en-US" sz="3714" dirty="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 de mascotas extraviadas en Bogotá D.C.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4827620" cy="2873185"/>
          </a:xfrm>
          <a:custGeom>
            <a:avLst/>
            <a:gdLst/>
            <a:ahLst/>
            <a:cxnLst/>
            <a:rect l="l" t="t" r="r" b="b"/>
            <a:pathLst>
              <a:path w="4827620" h="2873185">
                <a:moveTo>
                  <a:pt x="0" y="0"/>
                </a:moveTo>
                <a:lnTo>
                  <a:pt x="4827620" y="0"/>
                </a:lnTo>
                <a:lnTo>
                  <a:pt x="4827620" y="2873185"/>
                </a:lnTo>
                <a:lnTo>
                  <a:pt x="0" y="28731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2569708">
            <a:off x="-778785" y="895131"/>
            <a:ext cx="1694340" cy="3118887"/>
          </a:xfrm>
          <a:custGeom>
            <a:avLst/>
            <a:gdLst/>
            <a:ahLst/>
            <a:cxnLst/>
            <a:rect l="l" t="t" r="r" b="b"/>
            <a:pathLst>
              <a:path w="1694340" h="3118887">
                <a:moveTo>
                  <a:pt x="0" y="0"/>
                </a:moveTo>
                <a:lnTo>
                  <a:pt x="1694340" y="0"/>
                </a:lnTo>
                <a:lnTo>
                  <a:pt x="1694340" y="3118887"/>
                </a:lnTo>
                <a:lnTo>
                  <a:pt x="0" y="31188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12937" r="-13017"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2265977" y="6781476"/>
            <a:ext cx="6913821" cy="4114800"/>
          </a:xfrm>
          <a:custGeom>
            <a:avLst/>
            <a:gdLst/>
            <a:ahLst/>
            <a:cxnLst/>
            <a:rect l="l" t="t" r="r" b="b"/>
            <a:pathLst>
              <a:path w="6913821" h="4114800">
                <a:moveTo>
                  <a:pt x="6913821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913821" y="0"/>
                </a:lnTo>
                <a:lnTo>
                  <a:pt x="6913821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961309" y="8651181"/>
            <a:ext cx="2930897" cy="2930897"/>
          </a:xfrm>
          <a:custGeom>
            <a:avLst/>
            <a:gdLst/>
            <a:ahLst/>
            <a:cxnLst/>
            <a:rect l="l" t="t" r="r" b="b"/>
            <a:pathLst>
              <a:path w="2930897" h="2930897">
                <a:moveTo>
                  <a:pt x="0" y="0"/>
                </a:moveTo>
                <a:lnTo>
                  <a:pt x="2930897" y="0"/>
                </a:lnTo>
                <a:lnTo>
                  <a:pt x="2930897" y="2930897"/>
                </a:lnTo>
                <a:lnTo>
                  <a:pt x="0" y="29308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961309" y="8902391"/>
            <a:ext cx="2294220" cy="1993886"/>
          </a:xfrm>
          <a:custGeom>
            <a:avLst/>
            <a:gdLst/>
            <a:ahLst/>
            <a:cxnLst/>
            <a:rect l="l" t="t" r="r" b="b"/>
            <a:pathLst>
              <a:path w="2294220" h="1993886">
                <a:moveTo>
                  <a:pt x="0" y="0"/>
                </a:moveTo>
                <a:lnTo>
                  <a:pt x="2294220" y="0"/>
                </a:lnTo>
                <a:lnTo>
                  <a:pt x="2294220" y="1993885"/>
                </a:lnTo>
                <a:lnTo>
                  <a:pt x="0" y="19938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1724017" flipH="1">
            <a:off x="17136329" y="6370972"/>
            <a:ext cx="1904654" cy="3503543"/>
          </a:xfrm>
          <a:custGeom>
            <a:avLst/>
            <a:gdLst/>
            <a:ahLst/>
            <a:cxnLst/>
            <a:rect l="l" t="t" r="r" b="b"/>
            <a:pathLst>
              <a:path w="1904654" h="3503543">
                <a:moveTo>
                  <a:pt x="1904653" y="0"/>
                </a:moveTo>
                <a:lnTo>
                  <a:pt x="0" y="0"/>
                </a:lnTo>
                <a:lnTo>
                  <a:pt x="0" y="3503543"/>
                </a:lnTo>
                <a:lnTo>
                  <a:pt x="1904653" y="3503543"/>
                </a:lnTo>
                <a:lnTo>
                  <a:pt x="190465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5890365">
            <a:off x="17238110" y="8787417"/>
            <a:ext cx="970351" cy="1784927"/>
          </a:xfrm>
          <a:custGeom>
            <a:avLst/>
            <a:gdLst/>
            <a:ahLst/>
            <a:cxnLst/>
            <a:rect l="l" t="t" r="r" b="b"/>
            <a:pathLst>
              <a:path w="970351" h="1784927">
                <a:moveTo>
                  <a:pt x="0" y="0"/>
                </a:moveTo>
                <a:lnTo>
                  <a:pt x="970351" y="0"/>
                </a:lnTo>
                <a:lnTo>
                  <a:pt x="970351" y="1784927"/>
                </a:lnTo>
                <a:lnTo>
                  <a:pt x="0" y="17849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10688091">
            <a:off x="1488340" y="9339308"/>
            <a:ext cx="962496" cy="1231100"/>
          </a:xfrm>
          <a:custGeom>
            <a:avLst/>
            <a:gdLst/>
            <a:ahLst/>
            <a:cxnLst/>
            <a:rect l="l" t="t" r="r" b="b"/>
            <a:pathLst>
              <a:path w="962496" h="1231100">
                <a:moveTo>
                  <a:pt x="0" y="0"/>
                </a:moveTo>
                <a:lnTo>
                  <a:pt x="962496" y="0"/>
                </a:lnTo>
                <a:lnTo>
                  <a:pt x="962496" y="1231100"/>
                </a:lnTo>
                <a:lnTo>
                  <a:pt x="0" y="12311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267603">
            <a:off x="15925063" y="8043785"/>
            <a:ext cx="972775" cy="1244247"/>
          </a:xfrm>
          <a:custGeom>
            <a:avLst/>
            <a:gdLst/>
            <a:ahLst/>
            <a:cxnLst/>
            <a:rect l="l" t="t" r="r" b="b"/>
            <a:pathLst>
              <a:path w="972775" h="1244247">
                <a:moveTo>
                  <a:pt x="0" y="0"/>
                </a:moveTo>
                <a:lnTo>
                  <a:pt x="972775" y="0"/>
                </a:lnTo>
                <a:lnTo>
                  <a:pt x="972775" y="1244247"/>
                </a:lnTo>
                <a:lnTo>
                  <a:pt x="0" y="12442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191796" y="-1340756"/>
            <a:ext cx="4135007" cy="4135007"/>
          </a:xfrm>
          <a:custGeom>
            <a:avLst/>
            <a:gdLst/>
            <a:ahLst/>
            <a:cxnLst/>
            <a:rect l="l" t="t" r="r" b="b"/>
            <a:pathLst>
              <a:path w="4135007" h="4135007">
                <a:moveTo>
                  <a:pt x="0" y="0"/>
                </a:moveTo>
                <a:lnTo>
                  <a:pt x="4135008" y="0"/>
                </a:lnTo>
                <a:lnTo>
                  <a:pt x="4135008" y="4135007"/>
                </a:lnTo>
                <a:lnTo>
                  <a:pt x="0" y="413500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6483308" y="200985"/>
            <a:ext cx="2343234" cy="2036483"/>
          </a:xfrm>
          <a:custGeom>
            <a:avLst/>
            <a:gdLst/>
            <a:ahLst/>
            <a:cxnLst/>
            <a:rect l="l" t="t" r="r" b="b"/>
            <a:pathLst>
              <a:path w="2343234" h="2036483">
                <a:moveTo>
                  <a:pt x="0" y="0"/>
                </a:moveTo>
                <a:lnTo>
                  <a:pt x="2343233" y="0"/>
                </a:lnTo>
                <a:lnTo>
                  <a:pt x="2343233" y="2036483"/>
                </a:lnTo>
                <a:lnTo>
                  <a:pt x="0" y="203648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97662" y="-324778"/>
            <a:ext cx="810079" cy="1051525"/>
          </a:xfrm>
          <a:custGeom>
            <a:avLst/>
            <a:gdLst/>
            <a:ahLst/>
            <a:cxnLst/>
            <a:rect l="l" t="t" r="r" b="b"/>
            <a:pathLst>
              <a:path w="810079" h="1051525">
                <a:moveTo>
                  <a:pt x="0" y="0"/>
                </a:moveTo>
                <a:lnTo>
                  <a:pt x="810079" y="0"/>
                </a:lnTo>
                <a:lnTo>
                  <a:pt x="810079" y="1051525"/>
                </a:lnTo>
                <a:lnTo>
                  <a:pt x="0" y="105152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5191796" y="9065104"/>
            <a:ext cx="810079" cy="1051525"/>
          </a:xfrm>
          <a:custGeom>
            <a:avLst/>
            <a:gdLst/>
            <a:ahLst/>
            <a:cxnLst/>
            <a:rect l="l" t="t" r="r" b="b"/>
            <a:pathLst>
              <a:path w="810079" h="1051525">
                <a:moveTo>
                  <a:pt x="0" y="0"/>
                </a:moveTo>
                <a:lnTo>
                  <a:pt x="810079" y="0"/>
                </a:lnTo>
                <a:lnTo>
                  <a:pt x="810079" y="1051525"/>
                </a:lnTo>
                <a:lnTo>
                  <a:pt x="0" y="105152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2721516" y="1219226"/>
            <a:ext cx="12844967" cy="8299226"/>
          </a:xfrm>
          <a:custGeom>
            <a:avLst/>
            <a:gdLst/>
            <a:ahLst/>
            <a:cxnLst/>
            <a:rect l="l" t="t" r="r" b="b"/>
            <a:pathLst>
              <a:path w="12844967" h="8299226">
                <a:moveTo>
                  <a:pt x="0" y="0"/>
                </a:moveTo>
                <a:lnTo>
                  <a:pt x="12844968" y="0"/>
                </a:lnTo>
                <a:lnTo>
                  <a:pt x="12844968" y="8299226"/>
                </a:lnTo>
                <a:lnTo>
                  <a:pt x="0" y="829922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3121097" y="3139885"/>
            <a:ext cx="5670714" cy="2988972"/>
          </a:xfrm>
          <a:custGeom>
            <a:avLst/>
            <a:gdLst/>
            <a:ahLst/>
            <a:cxnLst/>
            <a:rect l="l" t="t" r="r" b="b"/>
            <a:pathLst>
              <a:path w="5670714" h="2988972">
                <a:moveTo>
                  <a:pt x="0" y="0"/>
                </a:moveTo>
                <a:lnTo>
                  <a:pt x="5670714" y="0"/>
                </a:lnTo>
                <a:lnTo>
                  <a:pt x="5670714" y="2988973"/>
                </a:lnTo>
                <a:lnTo>
                  <a:pt x="0" y="2988973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-3832" t="-2874" r="-25036"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9992538" y="3139885"/>
            <a:ext cx="5199258" cy="2988972"/>
          </a:xfrm>
          <a:custGeom>
            <a:avLst/>
            <a:gdLst/>
            <a:ahLst/>
            <a:cxnLst/>
            <a:rect l="l" t="t" r="r" b="b"/>
            <a:pathLst>
              <a:path w="5199258" h="2988972">
                <a:moveTo>
                  <a:pt x="0" y="0"/>
                </a:moveTo>
                <a:lnTo>
                  <a:pt x="5199258" y="0"/>
                </a:lnTo>
                <a:lnTo>
                  <a:pt x="5199258" y="2988973"/>
                </a:lnTo>
                <a:lnTo>
                  <a:pt x="0" y="2988973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-3170" t="-5277" r="-40667"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2349100" y="63172"/>
            <a:ext cx="13373787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537122"/>
                </a:solidFill>
                <a:latin typeface="Lilita One"/>
                <a:ea typeface="Lilita One"/>
                <a:cs typeface="Lilita One"/>
                <a:sym typeface="Lilita One"/>
              </a:rPr>
              <a:t>ENCUESTA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955764" y="1440195"/>
            <a:ext cx="6376472" cy="1432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16"/>
              </a:lnSpc>
            </a:pPr>
            <a:r>
              <a:rPr lang="en-US" sz="4083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PERFIL DE LOS PARTICIPANTES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121097" y="6521775"/>
            <a:ext cx="12138844" cy="2380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La </a:t>
            </a:r>
            <a:r>
              <a:rPr lang="en-US" sz="3399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encuesta</a:t>
            </a:r>
            <a:r>
              <a:rPr lang="en-US" sz="33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contó</a:t>
            </a:r>
            <a:r>
              <a:rPr lang="en-US" sz="33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con </a:t>
            </a:r>
            <a:r>
              <a:rPr lang="en-US" sz="3399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participantes</a:t>
            </a:r>
            <a:r>
              <a:rPr lang="en-US" sz="33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de </a:t>
            </a:r>
            <a:r>
              <a:rPr lang="en-US" sz="3399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diferentes</a:t>
            </a:r>
            <a:r>
              <a:rPr lang="en-US" sz="33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edades</a:t>
            </a:r>
            <a:r>
              <a:rPr lang="en-US" sz="33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y </a:t>
            </a:r>
            <a:r>
              <a:rPr lang="en-US" sz="3399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localidades</a:t>
            </a:r>
            <a:r>
              <a:rPr lang="en-US" sz="33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de Bogotá D.C., la </a:t>
            </a:r>
            <a:r>
              <a:rPr lang="en-US" sz="3399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mayoría</a:t>
            </a:r>
            <a:r>
              <a:rPr lang="en-US" sz="33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de </a:t>
            </a:r>
            <a:r>
              <a:rPr lang="en-US" sz="3399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ellos</a:t>
            </a:r>
            <a:r>
              <a:rPr lang="en-US" sz="33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propietarios</a:t>
            </a:r>
            <a:r>
              <a:rPr lang="en-US" sz="33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de mascotas, lo que </a:t>
            </a:r>
            <a:r>
              <a:rPr lang="en-US" sz="3399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permite</a:t>
            </a:r>
            <a:r>
              <a:rPr lang="en-US" sz="33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obtener</a:t>
            </a:r>
            <a:r>
              <a:rPr lang="en-US" sz="33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una </a:t>
            </a:r>
            <a:r>
              <a:rPr lang="en-US" sz="3399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perspectiva</a:t>
            </a:r>
            <a:r>
              <a:rPr lang="en-US" sz="33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cercana</a:t>
            </a:r>
            <a:r>
              <a:rPr lang="en-US" sz="33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a la </a:t>
            </a:r>
            <a:r>
              <a:rPr lang="en-US" sz="3399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problemática</a:t>
            </a:r>
            <a:r>
              <a:rPr lang="en-US" sz="33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estudiada</a:t>
            </a:r>
            <a:r>
              <a:rPr lang="en-US" sz="33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4827620" cy="2873185"/>
          </a:xfrm>
          <a:custGeom>
            <a:avLst/>
            <a:gdLst/>
            <a:ahLst/>
            <a:cxnLst/>
            <a:rect l="l" t="t" r="r" b="b"/>
            <a:pathLst>
              <a:path w="4827620" h="2873185">
                <a:moveTo>
                  <a:pt x="0" y="0"/>
                </a:moveTo>
                <a:lnTo>
                  <a:pt x="4827620" y="0"/>
                </a:lnTo>
                <a:lnTo>
                  <a:pt x="4827620" y="2873185"/>
                </a:lnTo>
                <a:lnTo>
                  <a:pt x="0" y="28731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2569708">
            <a:off x="-778785" y="895131"/>
            <a:ext cx="1694340" cy="3118887"/>
          </a:xfrm>
          <a:custGeom>
            <a:avLst/>
            <a:gdLst/>
            <a:ahLst/>
            <a:cxnLst/>
            <a:rect l="l" t="t" r="r" b="b"/>
            <a:pathLst>
              <a:path w="1694340" h="3118887">
                <a:moveTo>
                  <a:pt x="0" y="0"/>
                </a:moveTo>
                <a:lnTo>
                  <a:pt x="1694340" y="0"/>
                </a:lnTo>
                <a:lnTo>
                  <a:pt x="1694340" y="3118887"/>
                </a:lnTo>
                <a:lnTo>
                  <a:pt x="0" y="31188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12937" r="-13017"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2265977" y="6781476"/>
            <a:ext cx="6913821" cy="4114800"/>
          </a:xfrm>
          <a:custGeom>
            <a:avLst/>
            <a:gdLst/>
            <a:ahLst/>
            <a:cxnLst/>
            <a:rect l="l" t="t" r="r" b="b"/>
            <a:pathLst>
              <a:path w="6913821" h="4114800">
                <a:moveTo>
                  <a:pt x="6913821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913821" y="0"/>
                </a:lnTo>
                <a:lnTo>
                  <a:pt x="6913821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961309" y="8651181"/>
            <a:ext cx="2930897" cy="2930897"/>
          </a:xfrm>
          <a:custGeom>
            <a:avLst/>
            <a:gdLst/>
            <a:ahLst/>
            <a:cxnLst/>
            <a:rect l="l" t="t" r="r" b="b"/>
            <a:pathLst>
              <a:path w="2930897" h="2930897">
                <a:moveTo>
                  <a:pt x="0" y="0"/>
                </a:moveTo>
                <a:lnTo>
                  <a:pt x="2930897" y="0"/>
                </a:lnTo>
                <a:lnTo>
                  <a:pt x="2930897" y="2930897"/>
                </a:lnTo>
                <a:lnTo>
                  <a:pt x="0" y="29308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961309" y="8902391"/>
            <a:ext cx="2294220" cy="1993886"/>
          </a:xfrm>
          <a:custGeom>
            <a:avLst/>
            <a:gdLst/>
            <a:ahLst/>
            <a:cxnLst/>
            <a:rect l="l" t="t" r="r" b="b"/>
            <a:pathLst>
              <a:path w="2294220" h="1993886">
                <a:moveTo>
                  <a:pt x="0" y="0"/>
                </a:moveTo>
                <a:lnTo>
                  <a:pt x="2294220" y="0"/>
                </a:lnTo>
                <a:lnTo>
                  <a:pt x="2294220" y="1993885"/>
                </a:lnTo>
                <a:lnTo>
                  <a:pt x="0" y="19938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1724017" flipH="1">
            <a:off x="17136329" y="6370972"/>
            <a:ext cx="1904654" cy="3503543"/>
          </a:xfrm>
          <a:custGeom>
            <a:avLst/>
            <a:gdLst/>
            <a:ahLst/>
            <a:cxnLst/>
            <a:rect l="l" t="t" r="r" b="b"/>
            <a:pathLst>
              <a:path w="1904654" h="3503543">
                <a:moveTo>
                  <a:pt x="1904653" y="0"/>
                </a:moveTo>
                <a:lnTo>
                  <a:pt x="0" y="0"/>
                </a:lnTo>
                <a:lnTo>
                  <a:pt x="0" y="3503543"/>
                </a:lnTo>
                <a:lnTo>
                  <a:pt x="1904653" y="3503543"/>
                </a:lnTo>
                <a:lnTo>
                  <a:pt x="190465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5890365">
            <a:off x="17238110" y="8787417"/>
            <a:ext cx="970351" cy="1784927"/>
          </a:xfrm>
          <a:custGeom>
            <a:avLst/>
            <a:gdLst/>
            <a:ahLst/>
            <a:cxnLst/>
            <a:rect l="l" t="t" r="r" b="b"/>
            <a:pathLst>
              <a:path w="970351" h="1784927">
                <a:moveTo>
                  <a:pt x="0" y="0"/>
                </a:moveTo>
                <a:lnTo>
                  <a:pt x="970351" y="0"/>
                </a:lnTo>
                <a:lnTo>
                  <a:pt x="970351" y="1784927"/>
                </a:lnTo>
                <a:lnTo>
                  <a:pt x="0" y="17849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10688091">
            <a:off x="1488340" y="9339308"/>
            <a:ext cx="962496" cy="1231100"/>
          </a:xfrm>
          <a:custGeom>
            <a:avLst/>
            <a:gdLst/>
            <a:ahLst/>
            <a:cxnLst/>
            <a:rect l="l" t="t" r="r" b="b"/>
            <a:pathLst>
              <a:path w="962496" h="1231100">
                <a:moveTo>
                  <a:pt x="0" y="0"/>
                </a:moveTo>
                <a:lnTo>
                  <a:pt x="962496" y="0"/>
                </a:lnTo>
                <a:lnTo>
                  <a:pt x="962496" y="1231100"/>
                </a:lnTo>
                <a:lnTo>
                  <a:pt x="0" y="12311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267603">
            <a:off x="15925063" y="8043785"/>
            <a:ext cx="972775" cy="1244247"/>
          </a:xfrm>
          <a:custGeom>
            <a:avLst/>
            <a:gdLst/>
            <a:ahLst/>
            <a:cxnLst/>
            <a:rect l="l" t="t" r="r" b="b"/>
            <a:pathLst>
              <a:path w="972775" h="1244247">
                <a:moveTo>
                  <a:pt x="0" y="0"/>
                </a:moveTo>
                <a:lnTo>
                  <a:pt x="972775" y="0"/>
                </a:lnTo>
                <a:lnTo>
                  <a:pt x="972775" y="1244247"/>
                </a:lnTo>
                <a:lnTo>
                  <a:pt x="0" y="12442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191796" y="-1340756"/>
            <a:ext cx="4135007" cy="4135007"/>
          </a:xfrm>
          <a:custGeom>
            <a:avLst/>
            <a:gdLst/>
            <a:ahLst/>
            <a:cxnLst/>
            <a:rect l="l" t="t" r="r" b="b"/>
            <a:pathLst>
              <a:path w="4135007" h="4135007">
                <a:moveTo>
                  <a:pt x="0" y="0"/>
                </a:moveTo>
                <a:lnTo>
                  <a:pt x="4135008" y="0"/>
                </a:lnTo>
                <a:lnTo>
                  <a:pt x="4135008" y="4135007"/>
                </a:lnTo>
                <a:lnTo>
                  <a:pt x="0" y="413500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6483308" y="200985"/>
            <a:ext cx="2343234" cy="2036483"/>
          </a:xfrm>
          <a:custGeom>
            <a:avLst/>
            <a:gdLst/>
            <a:ahLst/>
            <a:cxnLst/>
            <a:rect l="l" t="t" r="r" b="b"/>
            <a:pathLst>
              <a:path w="2343234" h="2036483">
                <a:moveTo>
                  <a:pt x="0" y="0"/>
                </a:moveTo>
                <a:lnTo>
                  <a:pt x="2343233" y="0"/>
                </a:lnTo>
                <a:lnTo>
                  <a:pt x="2343233" y="2036483"/>
                </a:lnTo>
                <a:lnTo>
                  <a:pt x="0" y="203648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97662" y="-324778"/>
            <a:ext cx="810079" cy="1051525"/>
          </a:xfrm>
          <a:custGeom>
            <a:avLst/>
            <a:gdLst/>
            <a:ahLst/>
            <a:cxnLst/>
            <a:rect l="l" t="t" r="r" b="b"/>
            <a:pathLst>
              <a:path w="810079" h="1051525">
                <a:moveTo>
                  <a:pt x="0" y="0"/>
                </a:moveTo>
                <a:lnTo>
                  <a:pt x="810079" y="0"/>
                </a:lnTo>
                <a:lnTo>
                  <a:pt x="810079" y="1051525"/>
                </a:lnTo>
                <a:lnTo>
                  <a:pt x="0" y="105152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5191796" y="9065104"/>
            <a:ext cx="810079" cy="1051525"/>
          </a:xfrm>
          <a:custGeom>
            <a:avLst/>
            <a:gdLst/>
            <a:ahLst/>
            <a:cxnLst/>
            <a:rect l="l" t="t" r="r" b="b"/>
            <a:pathLst>
              <a:path w="810079" h="1051525">
                <a:moveTo>
                  <a:pt x="0" y="0"/>
                </a:moveTo>
                <a:lnTo>
                  <a:pt x="810079" y="0"/>
                </a:lnTo>
                <a:lnTo>
                  <a:pt x="810079" y="1051525"/>
                </a:lnTo>
                <a:lnTo>
                  <a:pt x="0" y="105152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2721516" y="1219226"/>
            <a:ext cx="12844967" cy="8299226"/>
          </a:xfrm>
          <a:custGeom>
            <a:avLst/>
            <a:gdLst/>
            <a:ahLst/>
            <a:cxnLst/>
            <a:rect l="l" t="t" r="r" b="b"/>
            <a:pathLst>
              <a:path w="12844967" h="8299226">
                <a:moveTo>
                  <a:pt x="0" y="0"/>
                </a:moveTo>
                <a:lnTo>
                  <a:pt x="12844968" y="0"/>
                </a:lnTo>
                <a:lnTo>
                  <a:pt x="12844968" y="8299226"/>
                </a:lnTo>
                <a:lnTo>
                  <a:pt x="0" y="829922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3211052" y="2021940"/>
            <a:ext cx="5521387" cy="2756640"/>
          </a:xfrm>
          <a:custGeom>
            <a:avLst/>
            <a:gdLst/>
            <a:ahLst/>
            <a:cxnLst/>
            <a:rect l="l" t="t" r="r" b="b"/>
            <a:pathLst>
              <a:path w="5521387" h="2756640">
                <a:moveTo>
                  <a:pt x="0" y="0"/>
                </a:moveTo>
                <a:lnTo>
                  <a:pt x="5521387" y="0"/>
                </a:lnTo>
                <a:lnTo>
                  <a:pt x="5521387" y="2756640"/>
                </a:lnTo>
                <a:lnTo>
                  <a:pt x="0" y="275664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-4027" t="-7301" r="-33292" b="-8428"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6570032" y="4626525"/>
            <a:ext cx="5147937" cy="2859777"/>
          </a:xfrm>
          <a:custGeom>
            <a:avLst/>
            <a:gdLst/>
            <a:ahLst/>
            <a:cxnLst/>
            <a:rect l="l" t="t" r="r" b="b"/>
            <a:pathLst>
              <a:path w="5147937" h="2859777">
                <a:moveTo>
                  <a:pt x="0" y="0"/>
                </a:moveTo>
                <a:lnTo>
                  <a:pt x="5147936" y="0"/>
                </a:lnTo>
                <a:lnTo>
                  <a:pt x="5147936" y="2859777"/>
                </a:lnTo>
                <a:lnTo>
                  <a:pt x="0" y="2859777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-3783" t="-5438" r="-48909" b="-10214"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9440042" y="2021940"/>
            <a:ext cx="5651870" cy="2763857"/>
          </a:xfrm>
          <a:custGeom>
            <a:avLst/>
            <a:gdLst/>
            <a:ahLst/>
            <a:cxnLst/>
            <a:rect l="l" t="t" r="r" b="b"/>
            <a:pathLst>
              <a:path w="5651870" h="2763857">
                <a:moveTo>
                  <a:pt x="0" y="0"/>
                </a:moveTo>
                <a:lnTo>
                  <a:pt x="5651870" y="0"/>
                </a:lnTo>
                <a:lnTo>
                  <a:pt x="5651870" y="2763857"/>
                </a:lnTo>
                <a:lnTo>
                  <a:pt x="0" y="2763857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-4057" t="-7508" r="-34271" b="-11513"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2349100" y="63172"/>
            <a:ext cx="13373787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537122"/>
                </a:solidFill>
                <a:latin typeface="Lilita One"/>
                <a:ea typeface="Lilita One"/>
                <a:cs typeface="Lilita One"/>
                <a:sym typeface="Lilita One"/>
              </a:rPr>
              <a:t>ENCUESTA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164563" y="1369918"/>
            <a:ext cx="7958874" cy="6520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81"/>
              </a:lnSpc>
            </a:pPr>
            <a:r>
              <a:rPr lang="en-US" sz="3843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PROBLEMÁTICA IDENTIFICADA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097837" y="7677800"/>
            <a:ext cx="12092325" cy="158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30"/>
              </a:lnSpc>
            </a:pPr>
            <a:r>
              <a:rPr lang="en-US" sz="3022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Los </a:t>
            </a:r>
            <a:r>
              <a:rPr lang="en-US" sz="3022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resultados</a:t>
            </a:r>
            <a:r>
              <a:rPr lang="en-US" sz="3022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022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evidencian</a:t>
            </a:r>
            <a:r>
              <a:rPr lang="en-US" sz="3022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que una </a:t>
            </a:r>
            <a:r>
              <a:rPr lang="en-US" sz="3022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parte</a:t>
            </a:r>
            <a:r>
              <a:rPr lang="en-US" sz="3022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022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importante</a:t>
            </a:r>
            <a:r>
              <a:rPr lang="en-US" sz="3022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de los </a:t>
            </a:r>
            <a:r>
              <a:rPr lang="en-US" sz="3022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participantes</a:t>
            </a:r>
            <a:r>
              <a:rPr lang="en-US" sz="3022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ha </a:t>
            </a:r>
            <a:r>
              <a:rPr lang="en-US" sz="3022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experimentado</a:t>
            </a:r>
            <a:r>
              <a:rPr lang="en-US" sz="3022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la </a:t>
            </a:r>
            <a:r>
              <a:rPr lang="en-US" sz="3022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pérdida</a:t>
            </a:r>
            <a:r>
              <a:rPr lang="en-US" sz="3022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de una </a:t>
            </a:r>
            <a:r>
              <a:rPr lang="en-US" sz="3022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mascota</a:t>
            </a:r>
            <a:r>
              <a:rPr lang="en-US" sz="3022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y </a:t>
            </a:r>
            <a:r>
              <a:rPr lang="en-US" sz="3022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considera</a:t>
            </a:r>
            <a:r>
              <a:rPr lang="en-US" sz="3022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que el </a:t>
            </a:r>
            <a:r>
              <a:rPr lang="en-US" sz="3022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proceso</a:t>
            </a:r>
            <a:r>
              <a:rPr lang="en-US" sz="3022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de búsqueda </a:t>
            </a:r>
            <a:r>
              <a:rPr lang="en-US" sz="3022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puede</a:t>
            </a:r>
            <a:r>
              <a:rPr lang="en-US" sz="3022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022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resultar</a:t>
            </a:r>
            <a:r>
              <a:rPr lang="en-US" sz="3022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022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complejo</a:t>
            </a:r>
            <a:r>
              <a:rPr lang="en-US" sz="3022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22788"/>
            <a:ext cx="6913821" cy="4114800"/>
          </a:xfrm>
          <a:custGeom>
            <a:avLst/>
            <a:gdLst/>
            <a:ahLst/>
            <a:cxnLst/>
            <a:rect l="l" t="t" r="r" b="b"/>
            <a:pathLst>
              <a:path w="6913821" h="4114800">
                <a:moveTo>
                  <a:pt x="0" y="0"/>
                </a:moveTo>
                <a:lnTo>
                  <a:pt x="6913821" y="0"/>
                </a:lnTo>
                <a:lnTo>
                  <a:pt x="691382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2569708">
            <a:off x="-195070" y="689565"/>
            <a:ext cx="1914908" cy="3522405"/>
          </a:xfrm>
          <a:custGeom>
            <a:avLst/>
            <a:gdLst/>
            <a:ahLst/>
            <a:cxnLst/>
            <a:rect l="l" t="t" r="r" b="b"/>
            <a:pathLst>
              <a:path w="1914908" h="3522405">
                <a:moveTo>
                  <a:pt x="0" y="0"/>
                </a:moveTo>
                <a:lnTo>
                  <a:pt x="1914907" y="0"/>
                </a:lnTo>
                <a:lnTo>
                  <a:pt x="1914907" y="3522405"/>
                </a:lnTo>
                <a:lnTo>
                  <a:pt x="0" y="35224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1374179" y="6172200"/>
            <a:ext cx="6913821" cy="4114800"/>
          </a:xfrm>
          <a:custGeom>
            <a:avLst/>
            <a:gdLst/>
            <a:ahLst/>
            <a:cxnLst/>
            <a:rect l="l" t="t" r="r" b="b"/>
            <a:pathLst>
              <a:path w="6913821" h="4114800">
                <a:moveTo>
                  <a:pt x="6913821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913821" y="0"/>
                </a:lnTo>
                <a:lnTo>
                  <a:pt x="6913821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544408" y="8399971"/>
            <a:ext cx="2930897" cy="2930897"/>
          </a:xfrm>
          <a:custGeom>
            <a:avLst/>
            <a:gdLst/>
            <a:ahLst/>
            <a:cxnLst/>
            <a:rect l="l" t="t" r="r" b="b"/>
            <a:pathLst>
              <a:path w="2930897" h="2930897">
                <a:moveTo>
                  <a:pt x="0" y="0"/>
                </a:moveTo>
                <a:lnTo>
                  <a:pt x="2930897" y="0"/>
                </a:lnTo>
                <a:lnTo>
                  <a:pt x="2930897" y="2930897"/>
                </a:lnTo>
                <a:lnTo>
                  <a:pt x="0" y="29308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544408" y="8651181"/>
            <a:ext cx="2294220" cy="1993886"/>
          </a:xfrm>
          <a:custGeom>
            <a:avLst/>
            <a:gdLst/>
            <a:ahLst/>
            <a:cxnLst/>
            <a:rect l="l" t="t" r="r" b="b"/>
            <a:pathLst>
              <a:path w="2294220" h="1993886">
                <a:moveTo>
                  <a:pt x="0" y="0"/>
                </a:moveTo>
                <a:lnTo>
                  <a:pt x="2294220" y="0"/>
                </a:lnTo>
                <a:lnTo>
                  <a:pt x="2294220" y="1993885"/>
                </a:lnTo>
                <a:lnTo>
                  <a:pt x="0" y="19938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1724017" flipH="1">
            <a:off x="17121687" y="6119762"/>
            <a:ext cx="1904654" cy="3503543"/>
          </a:xfrm>
          <a:custGeom>
            <a:avLst/>
            <a:gdLst/>
            <a:ahLst/>
            <a:cxnLst/>
            <a:rect l="l" t="t" r="r" b="b"/>
            <a:pathLst>
              <a:path w="1904654" h="3503543">
                <a:moveTo>
                  <a:pt x="1904654" y="0"/>
                </a:moveTo>
                <a:lnTo>
                  <a:pt x="0" y="0"/>
                </a:lnTo>
                <a:lnTo>
                  <a:pt x="0" y="3503543"/>
                </a:lnTo>
                <a:lnTo>
                  <a:pt x="1904654" y="3503543"/>
                </a:lnTo>
                <a:lnTo>
                  <a:pt x="190465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5890365">
            <a:off x="17238110" y="8787417"/>
            <a:ext cx="970351" cy="1784927"/>
          </a:xfrm>
          <a:custGeom>
            <a:avLst/>
            <a:gdLst/>
            <a:ahLst/>
            <a:cxnLst/>
            <a:rect l="l" t="t" r="r" b="b"/>
            <a:pathLst>
              <a:path w="970351" h="1784927">
                <a:moveTo>
                  <a:pt x="0" y="0"/>
                </a:moveTo>
                <a:lnTo>
                  <a:pt x="970351" y="0"/>
                </a:lnTo>
                <a:lnTo>
                  <a:pt x="970351" y="1784927"/>
                </a:lnTo>
                <a:lnTo>
                  <a:pt x="0" y="17849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10688091">
            <a:off x="2406268" y="216322"/>
            <a:ext cx="962496" cy="1231100"/>
          </a:xfrm>
          <a:custGeom>
            <a:avLst/>
            <a:gdLst/>
            <a:ahLst/>
            <a:cxnLst/>
            <a:rect l="l" t="t" r="r" b="b"/>
            <a:pathLst>
              <a:path w="962496" h="1231100">
                <a:moveTo>
                  <a:pt x="0" y="0"/>
                </a:moveTo>
                <a:lnTo>
                  <a:pt x="962496" y="0"/>
                </a:lnTo>
                <a:lnTo>
                  <a:pt x="962496" y="1231100"/>
                </a:lnTo>
                <a:lnTo>
                  <a:pt x="0" y="12311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267603">
            <a:off x="17031402" y="2897655"/>
            <a:ext cx="972775" cy="1244247"/>
          </a:xfrm>
          <a:custGeom>
            <a:avLst/>
            <a:gdLst/>
            <a:ahLst/>
            <a:cxnLst/>
            <a:rect l="l" t="t" r="r" b="b"/>
            <a:pathLst>
              <a:path w="972775" h="1244247">
                <a:moveTo>
                  <a:pt x="0" y="0"/>
                </a:moveTo>
                <a:lnTo>
                  <a:pt x="972775" y="0"/>
                </a:lnTo>
                <a:lnTo>
                  <a:pt x="972775" y="1244247"/>
                </a:lnTo>
                <a:lnTo>
                  <a:pt x="0" y="12442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191796" y="-1340756"/>
            <a:ext cx="4135007" cy="4135007"/>
          </a:xfrm>
          <a:custGeom>
            <a:avLst/>
            <a:gdLst/>
            <a:ahLst/>
            <a:cxnLst/>
            <a:rect l="l" t="t" r="r" b="b"/>
            <a:pathLst>
              <a:path w="4135007" h="4135007">
                <a:moveTo>
                  <a:pt x="0" y="0"/>
                </a:moveTo>
                <a:lnTo>
                  <a:pt x="4135008" y="0"/>
                </a:lnTo>
                <a:lnTo>
                  <a:pt x="4135008" y="4135007"/>
                </a:lnTo>
                <a:lnTo>
                  <a:pt x="0" y="413500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6483308" y="200985"/>
            <a:ext cx="2343234" cy="2036483"/>
          </a:xfrm>
          <a:custGeom>
            <a:avLst/>
            <a:gdLst/>
            <a:ahLst/>
            <a:cxnLst/>
            <a:rect l="l" t="t" r="r" b="b"/>
            <a:pathLst>
              <a:path w="2343234" h="2036483">
                <a:moveTo>
                  <a:pt x="0" y="0"/>
                </a:moveTo>
                <a:lnTo>
                  <a:pt x="2343233" y="0"/>
                </a:lnTo>
                <a:lnTo>
                  <a:pt x="2343233" y="2036483"/>
                </a:lnTo>
                <a:lnTo>
                  <a:pt x="0" y="203648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97662" y="-324778"/>
            <a:ext cx="810079" cy="1051525"/>
          </a:xfrm>
          <a:custGeom>
            <a:avLst/>
            <a:gdLst/>
            <a:ahLst/>
            <a:cxnLst/>
            <a:rect l="l" t="t" r="r" b="b"/>
            <a:pathLst>
              <a:path w="810079" h="1051525">
                <a:moveTo>
                  <a:pt x="0" y="0"/>
                </a:moveTo>
                <a:lnTo>
                  <a:pt x="810079" y="0"/>
                </a:lnTo>
                <a:lnTo>
                  <a:pt x="810079" y="1051525"/>
                </a:lnTo>
                <a:lnTo>
                  <a:pt x="0" y="105152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4606642" y="8895023"/>
            <a:ext cx="810079" cy="1051525"/>
          </a:xfrm>
          <a:custGeom>
            <a:avLst/>
            <a:gdLst/>
            <a:ahLst/>
            <a:cxnLst/>
            <a:rect l="l" t="t" r="r" b="b"/>
            <a:pathLst>
              <a:path w="810079" h="1051525">
                <a:moveTo>
                  <a:pt x="0" y="0"/>
                </a:moveTo>
                <a:lnTo>
                  <a:pt x="810079" y="0"/>
                </a:lnTo>
                <a:lnTo>
                  <a:pt x="810079" y="1051525"/>
                </a:lnTo>
                <a:lnTo>
                  <a:pt x="0" y="105152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grpSp>
        <p:nvGrpSpPr>
          <p:cNvPr id="15" name="Group 15"/>
          <p:cNvGrpSpPr/>
          <p:nvPr/>
        </p:nvGrpSpPr>
        <p:grpSpPr>
          <a:xfrm>
            <a:off x="3949896" y="2826166"/>
            <a:ext cx="11501075" cy="1355198"/>
            <a:chOff x="0" y="0"/>
            <a:chExt cx="3029090" cy="35692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029090" cy="356924"/>
            </a:xfrm>
            <a:custGeom>
              <a:avLst/>
              <a:gdLst/>
              <a:ahLst/>
              <a:cxnLst/>
              <a:rect l="l" t="t" r="r" b="b"/>
              <a:pathLst>
                <a:path w="3029090" h="356924">
                  <a:moveTo>
                    <a:pt x="18175" y="0"/>
                  </a:moveTo>
                  <a:lnTo>
                    <a:pt x="3010915" y="0"/>
                  </a:lnTo>
                  <a:cubicBezTo>
                    <a:pt x="3015735" y="0"/>
                    <a:pt x="3020358" y="1915"/>
                    <a:pt x="3023766" y="5323"/>
                  </a:cubicBezTo>
                  <a:cubicBezTo>
                    <a:pt x="3027175" y="8732"/>
                    <a:pt x="3029090" y="13355"/>
                    <a:pt x="3029090" y="18175"/>
                  </a:cubicBezTo>
                  <a:lnTo>
                    <a:pt x="3029090" y="338750"/>
                  </a:lnTo>
                  <a:cubicBezTo>
                    <a:pt x="3029090" y="343570"/>
                    <a:pt x="3027175" y="348193"/>
                    <a:pt x="3023766" y="351601"/>
                  </a:cubicBezTo>
                  <a:cubicBezTo>
                    <a:pt x="3020358" y="355010"/>
                    <a:pt x="3015735" y="356924"/>
                    <a:pt x="3010915" y="356924"/>
                  </a:cubicBezTo>
                  <a:lnTo>
                    <a:pt x="18175" y="356924"/>
                  </a:lnTo>
                  <a:cubicBezTo>
                    <a:pt x="13355" y="356924"/>
                    <a:pt x="8732" y="355010"/>
                    <a:pt x="5323" y="351601"/>
                  </a:cubicBezTo>
                  <a:cubicBezTo>
                    <a:pt x="1915" y="348193"/>
                    <a:pt x="0" y="343570"/>
                    <a:pt x="0" y="338750"/>
                  </a:cubicBezTo>
                  <a:lnTo>
                    <a:pt x="0" y="18175"/>
                  </a:lnTo>
                  <a:cubicBezTo>
                    <a:pt x="0" y="13355"/>
                    <a:pt x="1915" y="8732"/>
                    <a:pt x="5323" y="5323"/>
                  </a:cubicBezTo>
                  <a:cubicBezTo>
                    <a:pt x="8732" y="1915"/>
                    <a:pt x="13355" y="0"/>
                    <a:pt x="18175" y="0"/>
                  </a:cubicBezTo>
                  <a:close/>
                </a:path>
              </a:pathLst>
            </a:custGeom>
            <a:solidFill>
              <a:srgbClr val="C2DDA8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3029090" cy="3950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2837029" y="2854253"/>
            <a:ext cx="1112868" cy="1299024"/>
            <a:chOff x="0" y="0"/>
            <a:chExt cx="293101" cy="34213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93101" cy="342130"/>
            </a:xfrm>
            <a:custGeom>
              <a:avLst/>
              <a:gdLst/>
              <a:ahLst/>
              <a:cxnLst/>
              <a:rect l="l" t="t" r="r" b="b"/>
              <a:pathLst>
                <a:path w="293101" h="342130">
                  <a:moveTo>
                    <a:pt x="146550" y="0"/>
                  </a:moveTo>
                  <a:lnTo>
                    <a:pt x="146550" y="0"/>
                  </a:lnTo>
                  <a:cubicBezTo>
                    <a:pt x="227488" y="0"/>
                    <a:pt x="293101" y="65613"/>
                    <a:pt x="293101" y="146550"/>
                  </a:cubicBezTo>
                  <a:lnTo>
                    <a:pt x="293101" y="195579"/>
                  </a:lnTo>
                  <a:cubicBezTo>
                    <a:pt x="293101" y="234447"/>
                    <a:pt x="277661" y="271723"/>
                    <a:pt x="250177" y="299206"/>
                  </a:cubicBezTo>
                  <a:cubicBezTo>
                    <a:pt x="222694" y="326690"/>
                    <a:pt x="185418" y="342130"/>
                    <a:pt x="146550" y="342130"/>
                  </a:cubicBezTo>
                  <a:lnTo>
                    <a:pt x="146550" y="342130"/>
                  </a:lnTo>
                  <a:cubicBezTo>
                    <a:pt x="65613" y="342130"/>
                    <a:pt x="0" y="276517"/>
                    <a:pt x="0" y="195579"/>
                  </a:cubicBezTo>
                  <a:lnTo>
                    <a:pt x="0" y="146550"/>
                  </a:lnTo>
                  <a:cubicBezTo>
                    <a:pt x="0" y="107683"/>
                    <a:pt x="15440" y="70407"/>
                    <a:pt x="42924" y="42924"/>
                  </a:cubicBezTo>
                  <a:cubicBezTo>
                    <a:pt x="70407" y="15440"/>
                    <a:pt x="107683" y="0"/>
                    <a:pt x="146550" y="0"/>
                  </a:cubicBezTo>
                  <a:close/>
                </a:path>
              </a:pathLst>
            </a:custGeom>
            <a:solidFill>
              <a:srgbClr val="7D9851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293101" cy="3802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2457106" y="1137066"/>
            <a:ext cx="13373787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537122"/>
                </a:solidFill>
                <a:latin typeface="Lilita One"/>
                <a:ea typeface="Lilita One"/>
                <a:cs typeface="Lilita One"/>
                <a:sym typeface="Lilita One"/>
              </a:rPr>
              <a:t>CONCLUSIONES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197949" y="2885401"/>
            <a:ext cx="11004970" cy="11700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704"/>
              </a:lnSpc>
            </a:pPr>
            <a:r>
              <a:rPr lang="en-US" sz="3360" dirty="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La </a:t>
            </a:r>
            <a:r>
              <a:rPr lang="en-US" sz="3360" dirty="0" err="1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pérdida</a:t>
            </a:r>
            <a:r>
              <a:rPr lang="en-US" sz="3360" dirty="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 de mascotas </a:t>
            </a:r>
            <a:r>
              <a:rPr lang="en-US" sz="3360" dirty="0" err="1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representa</a:t>
            </a:r>
            <a:r>
              <a:rPr lang="en-US" sz="3360" dirty="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 una </a:t>
            </a:r>
            <a:r>
              <a:rPr lang="en-US" sz="3360" dirty="0" err="1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problemática</a:t>
            </a:r>
            <a:r>
              <a:rPr lang="en-US" sz="3360" dirty="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 </a:t>
            </a:r>
            <a:r>
              <a:rPr lang="en-US" sz="3360" dirty="0" err="1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presente</a:t>
            </a:r>
            <a:r>
              <a:rPr lang="en-US" sz="3360" dirty="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 en Bogotá D.C.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230818" y="3135498"/>
            <a:ext cx="1039633" cy="6698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Comic Sans"/>
                <a:ea typeface="Comic Sans"/>
                <a:cs typeface="Comic Sans"/>
                <a:sym typeface="Comic Sans"/>
              </a:rPr>
              <a:t>1.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3949896" y="4396812"/>
            <a:ext cx="11501075" cy="1355198"/>
            <a:chOff x="0" y="0"/>
            <a:chExt cx="3029090" cy="356924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3029090" cy="356924"/>
            </a:xfrm>
            <a:custGeom>
              <a:avLst/>
              <a:gdLst/>
              <a:ahLst/>
              <a:cxnLst/>
              <a:rect l="l" t="t" r="r" b="b"/>
              <a:pathLst>
                <a:path w="3029090" h="356924">
                  <a:moveTo>
                    <a:pt x="18175" y="0"/>
                  </a:moveTo>
                  <a:lnTo>
                    <a:pt x="3010915" y="0"/>
                  </a:lnTo>
                  <a:cubicBezTo>
                    <a:pt x="3015735" y="0"/>
                    <a:pt x="3020358" y="1915"/>
                    <a:pt x="3023766" y="5323"/>
                  </a:cubicBezTo>
                  <a:cubicBezTo>
                    <a:pt x="3027175" y="8732"/>
                    <a:pt x="3029090" y="13355"/>
                    <a:pt x="3029090" y="18175"/>
                  </a:cubicBezTo>
                  <a:lnTo>
                    <a:pt x="3029090" y="338750"/>
                  </a:lnTo>
                  <a:cubicBezTo>
                    <a:pt x="3029090" y="343570"/>
                    <a:pt x="3027175" y="348193"/>
                    <a:pt x="3023766" y="351601"/>
                  </a:cubicBezTo>
                  <a:cubicBezTo>
                    <a:pt x="3020358" y="355010"/>
                    <a:pt x="3015735" y="356924"/>
                    <a:pt x="3010915" y="356924"/>
                  </a:cubicBezTo>
                  <a:lnTo>
                    <a:pt x="18175" y="356924"/>
                  </a:lnTo>
                  <a:cubicBezTo>
                    <a:pt x="13355" y="356924"/>
                    <a:pt x="8732" y="355010"/>
                    <a:pt x="5323" y="351601"/>
                  </a:cubicBezTo>
                  <a:cubicBezTo>
                    <a:pt x="1915" y="348193"/>
                    <a:pt x="0" y="343570"/>
                    <a:pt x="0" y="338750"/>
                  </a:cubicBezTo>
                  <a:lnTo>
                    <a:pt x="0" y="18175"/>
                  </a:lnTo>
                  <a:cubicBezTo>
                    <a:pt x="0" y="13355"/>
                    <a:pt x="1915" y="8732"/>
                    <a:pt x="5323" y="5323"/>
                  </a:cubicBezTo>
                  <a:cubicBezTo>
                    <a:pt x="8732" y="1915"/>
                    <a:pt x="13355" y="0"/>
                    <a:pt x="18175" y="0"/>
                  </a:cubicBezTo>
                  <a:close/>
                </a:path>
              </a:pathLst>
            </a:custGeom>
            <a:solidFill>
              <a:srgbClr val="C2DDA8"/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3029090" cy="3950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2837029" y="4424899"/>
            <a:ext cx="1112868" cy="1299024"/>
            <a:chOff x="0" y="0"/>
            <a:chExt cx="293101" cy="34213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93101" cy="342130"/>
            </a:xfrm>
            <a:custGeom>
              <a:avLst/>
              <a:gdLst/>
              <a:ahLst/>
              <a:cxnLst/>
              <a:rect l="l" t="t" r="r" b="b"/>
              <a:pathLst>
                <a:path w="293101" h="342130">
                  <a:moveTo>
                    <a:pt x="146550" y="0"/>
                  </a:moveTo>
                  <a:lnTo>
                    <a:pt x="146550" y="0"/>
                  </a:lnTo>
                  <a:cubicBezTo>
                    <a:pt x="227488" y="0"/>
                    <a:pt x="293101" y="65613"/>
                    <a:pt x="293101" y="146550"/>
                  </a:cubicBezTo>
                  <a:lnTo>
                    <a:pt x="293101" y="195579"/>
                  </a:lnTo>
                  <a:cubicBezTo>
                    <a:pt x="293101" y="234447"/>
                    <a:pt x="277661" y="271723"/>
                    <a:pt x="250177" y="299206"/>
                  </a:cubicBezTo>
                  <a:cubicBezTo>
                    <a:pt x="222694" y="326690"/>
                    <a:pt x="185418" y="342130"/>
                    <a:pt x="146550" y="342130"/>
                  </a:cubicBezTo>
                  <a:lnTo>
                    <a:pt x="146550" y="342130"/>
                  </a:lnTo>
                  <a:cubicBezTo>
                    <a:pt x="65613" y="342130"/>
                    <a:pt x="0" y="276517"/>
                    <a:pt x="0" y="195579"/>
                  </a:cubicBezTo>
                  <a:lnTo>
                    <a:pt x="0" y="146550"/>
                  </a:lnTo>
                  <a:cubicBezTo>
                    <a:pt x="0" y="107683"/>
                    <a:pt x="15440" y="70407"/>
                    <a:pt x="42924" y="42924"/>
                  </a:cubicBezTo>
                  <a:cubicBezTo>
                    <a:pt x="70407" y="15440"/>
                    <a:pt x="107683" y="0"/>
                    <a:pt x="146550" y="0"/>
                  </a:cubicBezTo>
                  <a:close/>
                </a:path>
              </a:pathLst>
            </a:custGeom>
            <a:solidFill>
              <a:srgbClr val="7D9851"/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293101" cy="3802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4197949" y="4456047"/>
            <a:ext cx="11004970" cy="11700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704"/>
              </a:lnSpc>
            </a:pPr>
            <a:r>
              <a:rPr lang="en-US" sz="336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Los medios utilizados actualmente presentan limitaciones para organizar y consultar la información.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230818" y="4706144"/>
            <a:ext cx="1039633" cy="669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Comic Sans"/>
                <a:ea typeface="Comic Sans"/>
                <a:cs typeface="Comic Sans"/>
                <a:sym typeface="Comic Sans"/>
              </a:rPr>
              <a:t>2.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3949896" y="5999660"/>
            <a:ext cx="11501075" cy="1355198"/>
            <a:chOff x="0" y="0"/>
            <a:chExt cx="3029090" cy="356924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3029090" cy="356924"/>
            </a:xfrm>
            <a:custGeom>
              <a:avLst/>
              <a:gdLst/>
              <a:ahLst/>
              <a:cxnLst/>
              <a:rect l="l" t="t" r="r" b="b"/>
              <a:pathLst>
                <a:path w="3029090" h="356924">
                  <a:moveTo>
                    <a:pt x="18175" y="0"/>
                  </a:moveTo>
                  <a:lnTo>
                    <a:pt x="3010915" y="0"/>
                  </a:lnTo>
                  <a:cubicBezTo>
                    <a:pt x="3015735" y="0"/>
                    <a:pt x="3020358" y="1915"/>
                    <a:pt x="3023766" y="5323"/>
                  </a:cubicBezTo>
                  <a:cubicBezTo>
                    <a:pt x="3027175" y="8732"/>
                    <a:pt x="3029090" y="13355"/>
                    <a:pt x="3029090" y="18175"/>
                  </a:cubicBezTo>
                  <a:lnTo>
                    <a:pt x="3029090" y="338750"/>
                  </a:lnTo>
                  <a:cubicBezTo>
                    <a:pt x="3029090" y="343570"/>
                    <a:pt x="3027175" y="348193"/>
                    <a:pt x="3023766" y="351601"/>
                  </a:cubicBezTo>
                  <a:cubicBezTo>
                    <a:pt x="3020358" y="355010"/>
                    <a:pt x="3015735" y="356924"/>
                    <a:pt x="3010915" y="356924"/>
                  </a:cubicBezTo>
                  <a:lnTo>
                    <a:pt x="18175" y="356924"/>
                  </a:lnTo>
                  <a:cubicBezTo>
                    <a:pt x="13355" y="356924"/>
                    <a:pt x="8732" y="355010"/>
                    <a:pt x="5323" y="351601"/>
                  </a:cubicBezTo>
                  <a:cubicBezTo>
                    <a:pt x="1915" y="348193"/>
                    <a:pt x="0" y="343570"/>
                    <a:pt x="0" y="338750"/>
                  </a:cubicBezTo>
                  <a:lnTo>
                    <a:pt x="0" y="18175"/>
                  </a:lnTo>
                  <a:cubicBezTo>
                    <a:pt x="0" y="13355"/>
                    <a:pt x="1915" y="8732"/>
                    <a:pt x="5323" y="5323"/>
                  </a:cubicBezTo>
                  <a:cubicBezTo>
                    <a:pt x="8732" y="1915"/>
                    <a:pt x="13355" y="0"/>
                    <a:pt x="18175" y="0"/>
                  </a:cubicBezTo>
                  <a:close/>
                </a:path>
              </a:pathLst>
            </a:custGeom>
            <a:solidFill>
              <a:srgbClr val="C2DDA8"/>
            </a:solidFill>
          </p:spPr>
        </p:sp>
        <p:sp>
          <p:nvSpPr>
            <p:cNvPr id="34" name="TextBox 34"/>
            <p:cNvSpPr txBox="1"/>
            <p:nvPr/>
          </p:nvSpPr>
          <p:spPr>
            <a:xfrm>
              <a:off x="0" y="-38100"/>
              <a:ext cx="3029090" cy="3950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2837029" y="6027747"/>
            <a:ext cx="1112868" cy="1299024"/>
            <a:chOff x="0" y="0"/>
            <a:chExt cx="293101" cy="34213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293101" cy="342130"/>
            </a:xfrm>
            <a:custGeom>
              <a:avLst/>
              <a:gdLst/>
              <a:ahLst/>
              <a:cxnLst/>
              <a:rect l="l" t="t" r="r" b="b"/>
              <a:pathLst>
                <a:path w="293101" h="342130">
                  <a:moveTo>
                    <a:pt x="146550" y="0"/>
                  </a:moveTo>
                  <a:lnTo>
                    <a:pt x="146550" y="0"/>
                  </a:lnTo>
                  <a:cubicBezTo>
                    <a:pt x="227488" y="0"/>
                    <a:pt x="293101" y="65613"/>
                    <a:pt x="293101" y="146550"/>
                  </a:cubicBezTo>
                  <a:lnTo>
                    <a:pt x="293101" y="195579"/>
                  </a:lnTo>
                  <a:cubicBezTo>
                    <a:pt x="293101" y="234447"/>
                    <a:pt x="277661" y="271723"/>
                    <a:pt x="250177" y="299206"/>
                  </a:cubicBezTo>
                  <a:cubicBezTo>
                    <a:pt x="222694" y="326690"/>
                    <a:pt x="185418" y="342130"/>
                    <a:pt x="146550" y="342130"/>
                  </a:cubicBezTo>
                  <a:lnTo>
                    <a:pt x="146550" y="342130"/>
                  </a:lnTo>
                  <a:cubicBezTo>
                    <a:pt x="65613" y="342130"/>
                    <a:pt x="0" y="276517"/>
                    <a:pt x="0" y="195579"/>
                  </a:cubicBezTo>
                  <a:lnTo>
                    <a:pt x="0" y="146550"/>
                  </a:lnTo>
                  <a:cubicBezTo>
                    <a:pt x="0" y="107683"/>
                    <a:pt x="15440" y="70407"/>
                    <a:pt x="42924" y="42924"/>
                  </a:cubicBezTo>
                  <a:cubicBezTo>
                    <a:pt x="70407" y="15440"/>
                    <a:pt x="107683" y="0"/>
                    <a:pt x="146550" y="0"/>
                  </a:cubicBezTo>
                  <a:close/>
                </a:path>
              </a:pathLst>
            </a:custGeom>
            <a:solidFill>
              <a:srgbClr val="7D9851"/>
            </a:solidFill>
          </p:spPr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293101" cy="3802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4197949" y="6068419"/>
            <a:ext cx="11218772" cy="105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52"/>
              </a:lnSpc>
            </a:pPr>
            <a:r>
              <a:rPr lang="en-US" sz="3037" dirty="0" err="1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Patitas</a:t>
            </a:r>
            <a:r>
              <a:rPr lang="en-US" sz="3037" dirty="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 </a:t>
            </a:r>
            <a:r>
              <a:rPr lang="en-US" sz="3037" dirty="0" err="1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Perdidas</a:t>
            </a:r>
            <a:r>
              <a:rPr lang="en-US" sz="3037" dirty="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 propone una </a:t>
            </a:r>
            <a:r>
              <a:rPr lang="en-US" sz="3037" dirty="0" err="1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alternativa</a:t>
            </a:r>
            <a:r>
              <a:rPr lang="en-US" sz="3037" dirty="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 para </a:t>
            </a:r>
            <a:r>
              <a:rPr lang="en-US" sz="3037" dirty="0" err="1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centralizar</a:t>
            </a:r>
            <a:r>
              <a:rPr lang="en-US" sz="3037" dirty="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 los </a:t>
            </a:r>
            <a:r>
              <a:rPr lang="en-US" sz="3037" dirty="0" err="1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reportes</a:t>
            </a:r>
            <a:r>
              <a:rPr lang="en-US" sz="3037" dirty="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 </a:t>
            </a:r>
            <a:r>
              <a:rPr lang="en-US" sz="3037" dirty="0" err="1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relacionados</a:t>
            </a:r>
            <a:r>
              <a:rPr lang="en-US" sz="3037" dirty="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 con mascotas extraviadas.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3230818" y="6308992"/>
            <a:ext cx="1039633" cy="669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Comic Sans"/>
                <a:ea typeface="Comic Sans"/>
                <a:cs typeface="Comic Sans"/>
                <a:sym typeface="Comic Sans"/>
              </a:rPr>
              <a:t>3.</a:t>
            </a:r>
          </a:p>
        </p:txBody>
      </p:sp>
      <p:grpSp>
        <p:nvGrpSpPr>
          <p:cNvPr id="40" name="Group 40"/>
          <p:cNvGrpSpPr/>
          <p:nvPr/>
        </p:nvGrpSpPr>
        <p:grpSpPr>
          <a:xfrm>
            <a:off x="3949896" y="7573932"/>
            <a:ext cx="11501075" cy="1355198"/>
            <a:chOff x="0" y="0"/>
            <a:chExt cx="3029090" cy="356924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3029090" cy="356924"/>
            </a:xfrm>
            <a:custGeom>
              <a:avLst/>
              <a:gdLst/>
              <a:ahLst/>
              <a:cxnLst/>
              <a:rect l="l" t="t" r="r" b="b"/>
              <a:pathLst>
                <a:path w="3029090" h="356924">
                  <a:moveTo>
                    <a:pt x="18175" y="0"/>
                  </a:moveTo>
                  <a:lnTo>
                    <a:pt x="3010915" y="0"/>
                  </a:lnTo>
                  <a:cubicBezTo>
                    <a:pt x="3015735" y="0"/>
                    <a:pt x="3020358" y="1915"/>
                    <a:pt x="3023766" y="5323"/>
                  </a:cubicBezTo>
                  <a:cubicBezTo>
                    <a:pt x="3027175" y="8732"/>
                    <a:pt x="3029090" y="13355"/>
                    <a:pt x="3029090" y="18175"/>
                  </a:cubicBezTo>
                  <a:lnTo>
                    <a:pt x="3029090" y="338750"/>
                  </a:lnTo>
                  <a:cubicBezTo>
                    <a:pt x="3029090" y="343570"/>
                    <a:pt x="3027175" y="348193"/>
                    <a:pt x="3023766" y="351601"/>
                  </a:cubicBezTo>
                  <a:cubicBezTo>
                    <a:pt x="3020358" y="355010"/>
                    <a:pt x="3015735" y="356924"/>
                    <a:pt x="3010915" y="356924"/>
                  </a:cubicBezTo>
                  <a:lnTo>
                    <a:pt x="18175" y="356924"/>
                  </a:lnTo>
                  <a:cubicBezTo>
                    <a:pt x="13355" y="356924"/>
                    <a:pt x="8732" y="355010"/>
                    <a:pt x="5323" y="351601"/>
                  </a:cubicBezTo>
                  <a:cubicBezTo>
                    <a:pt x="1915" y="348193"/>
                    <a:pt x="0" y="343570"/>
                    <a:pt x="0" y="338750"/>
                  </a:cubicBezTo>
                  <a:lnTo>
                    <a:pt x="0" y="18175"/>
                  </a:lnTo>
                  <a:cubicBezTo>
                    <a:pt x="0" y="13355"/>
                    <a:pt x="1915" y="8732"/>
                    <a:pt x="5323" y="5323"/>
                  </a:cubicBezTo>
                  <a:cubicBezTo>
                    <a:pt x="8732" y="1915"/>
                    <a:pt x="13355" y="0"/>
                    <a:pt x="18175" y="0"/>
                  </a:cubicBezTo>
                  <a:close/>
                </a:path>
              </a:pathLst>
            </a:custGeom>
            <a:solidFill>
              <a:srgbClr val="C2DDA8"/>
            </a:solidFill>
          </p:spPr>
        </p:sp>
        <p:sp>
          <p:nvSpPr>
            <p:cNvPr id="42" name="TextBox 42"/>
            <p:cNvSpPr txBox="1"/>
            <p:nvPr/>
          </p:nvSpPr>
          <p:spPr>
            <a:xfrm>
              <a:off x="0" y="-38100"/>
              <a:ext cx="3029090" cy="3950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2837029" y="7602019"/>
            <a:ext cx="1112868" cy="1299024"/>
            <a:chOff x="0" y="0"/>
            <a:chExt cx="293101" cy="34213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293101" cy="342130"/>
            </a:xfrm>
            <a:custGeom>
              <a:avLst/>
              <a:gdLst/>
              <a:ahLst/>
              <a:cxnLst/>
              <a:rect l="l" t="t" r="r" b="b"/>
              <a:pathLst>
                <a:path w="293101" h="342130">
                  <a:moveTo>
                    <a:pt x="146550" y="0"/>
                  </a:moveTo>
                  <a:lnTo>
                    <a:pt x="146550" y="0"/>
                  </a:lnTo>
                  <a:cubicBezTo>
                    <a:pt x="227488" y="0"/>
                    <a:pt x="293101" y="65613"/>
                    <a:pt x="293101" y="146550"/>
                  </a:cubicBezTo>
                  <a:lnTo>
                    <a:pt x="293101" y="195579"/>
                  </a:lnTo>
                  <a:cubicBezTo>
                    <a:pt x="293101" y="234447"/>
                    <a:pt x="277661" y="271723"/>
                    <a:pt x="250177" y="299206"/>
                  </a:cubicBezTo>
                  <a:cubicBezTo>
                    <a:pt x="222694" y="326690"/>
                    <a:pt x="185418" y="342130"/>
                    <a:pt x="146550" y="342130"/>
                  </a:cubicBezTo>
                  <a:lnTo>
                    <a:pt x="146550" y="342130"/>
                  </a:lnTo>
                  <a:cubicBezTo>
                    <a:pt x="65613" y="342130"/>
                    <a:pt x="0" y="276517"/>
                    <a:pt x="0" y="195579"/>
                  </a:cubicBezTo>
                  <a:lnTo>
                    <a:pt x="0" y="146550"/>
                  </a:lnTo>
                  <a:cubicBezTo>
                    <a:pt x="0" y="107683"/>
                    <a:pt x="15440" y="70407"/>
                    <a:pt x="42924" y="42924"/>
                  </a:cubicBezTo>
                  <a:cubicBezTo>
                    <a:pt x="70407" y="15440"/>
                    <a:pt x="107683" y="0"/>
                    <a:pt x="146550" y="0"/>
                  </a:cubicBezTo>
                  <a:close/>
                </a:path>
              </a:pathLst>
            </a:custGeom>
            <a:solidFill>
              <a:srgbClr val="7D9851"/>
            </a:solidFill>
          </p:spPr>
        </p:sp>
        <p:sp>
          <p:nvSpPr>
            <p:cNvPr id="45" name="TextBox 45"/>
            <p:cNvSpPr txBox="1"/>
            <p:nvPr/>
          </p:nvSpPr>
          <p:spPr>
            <a:xfrm>
              <a:off x="0" y="-38100"/>
              <a:ext cx="293101" cy="3802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6" name="TextBox 46"/>
          <p:cNvSpPr txBox="1"/>
          <p:nvPr/>
        </p:nvSpPr>
        <p:spPr>
          <a:xfrm>
            <a:off x="4197949" y="7642692"/>
            <a:ext cx="11218772" cy="1061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82"/>
              </a:lnSpc>
            </a:pPr>
            <a:r>
              <a:rPr lang="en-US" sz="3058" dirty="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La </a:t>
            </a:r>
            <a:r>
              <a:rPr lang="en-US" sz="3058" dirty="0" err="1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organización</a:t>
            </a:r>
            <a:r>
              <a:rPr lang="en-US" sz="3058" dirty="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 de la </a:t>
            </a:r>
            <a:r>
              <a:rPr lang="en-US" sz="3058" dirty="0" err="1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información</a:t>
            </a:r>
            <a:r>
              <a:rPr lang="en-US" sz="3058" dirty="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 </a:t>
            </a:r>
            <a:r>
              <a:rPr lang="en-US" sz="3058" dirty="0" err="1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puede</a:t>
            </a:r>
            <a:r>
              <a:rPr lang="en-US" sz="3058" dirty="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 </a:t>
            </a:r>
            <a:r>
              <a:rPr lang="en-US" sz="3058" dirty="0" err="1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contribuir</a:t>
            </a:r>
            <a:r>
              <a:rPr lang="en-US" sz="3058" dirty="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 a </a:t>
            </a:r>
            <a:r>
              <a:rPr lang="en-US" sz="3058" dirty="0" err="1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mejorar</a:t>
            </a:r>
            <a:r>
              <a:rPr lang="en-US" sz="3058" dirty="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 el </a:t>
            </a:r>
            <a:r>
              <a:rPr lang="en-US" sz="3058" dirty="0" err="1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proceso</a:t>
            </a:r>
            <a:r>
              <a:rPr lang="en-US" sz="3058" dirty="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 de búsqueda y </a:t>
            </a:r>
            <a:r>
              <a:rPr lang="en-US" sz="3058" dirty="0" err="1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recuperación</a:t>
            </a:r>
            <a:r>
              <a:rPr lang="en-US" sz="3058" dirty="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 de mascotas.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3230818" y="7883264"/>
            <a:ext cx="1039633" cy="669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Comic Sans"/>
                <a:ea typeface="Comic Sans"/>
                <a:cs typeface="Comic Sans"/>
                <a:sym typeface="Comic Sans"/>
              </a:rPr>
              <a:t>4.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6913821" cy="4114800"/>
          </a:xfrm>
          <a:custGeom>
            <a:avLst/>
            <a:gdLst/>
            <a:ahLst/>
            <a:cxnLst/>
            <a:rect l="l" t="t" r="r" b="b"/>
            <a:pathLst>
              <a:path w="6913821" h="4114800">
                <a:moveTo>
                  <a:pt x="0" y="0"/>
                </a:moveTo>
                <a:lnTo>
                  <a:pt x="6913821" y="0"/>
                </a:lnTo>
                <a:lnTo>
                  <a:pt x="691382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2569708">
            <a:off x="-195070" y="689565"/>
            <a:ext cx="1914908" cy="3522405"/>
          </a:xfrm>
          <a:custGeom>
            <a:avLst/>
            <a:gdLst/>
            <a:ahLst/>
            <a:cxnLst/>
            <a:rect l="l" t="t" r="r" b="b"/>
            <a:pathLst>
              <a:path w="1914908" h="3522405">
                <a:moveTo>
                  <a:pt x="0" y="0"/>
                </a:moveTo>
                <a:lnTo>
                  <a:pt x="1914907" y="0"/>
                </a:lnTo>
                <a:lnTo>
                  <a:pt x="1914907" y="3522405"/>
                </a:lnTo>
                <a:lnTo>
                  <a:pt x="0" y="35224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1374179" y="6172200"/>
            <a:ext cx="6913821" cy="4114800"/>
          </a:xfrm>
          <a:custGeom>
            <a:avLst/>
            <a:gdLst/>
            <a:ahLst/>
            <a:cxnLst/>
            <a:rect l="l" t="t" r="r" b="b"/>
            <a:pathLst>
              <a:path w="6913821" h="4114800">
                <a:moveTo>
                  <a:pt x="6913821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913821" y="0"/>
                </a:lnTo>
                <a:lnTo>
                  <a:pt x="6913821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544408" y="8399971"/>
            <a:ext cx="2930897" cy="2930897"/>
          </a:xfrm>
          <a:custGeom>
            <a:avLst/>
            <a:gdLst/>
            <a:ahLst/>
            <a:cxnLst/>
            <a:rect l="l" t="t" r="r" b="b"/>
            <a:pathLst>
              <a:path w="2930897" h="2930897">
                <a:moveTo>
                  <a:pt x="0" y="0"/>
                </a:moveTo>
                <a:lnTo>
                  <a:pt x="2930897" y="0"/>
                </a:lnTo>
                <a:lnTo>
                  <a:pt x="2930897" y="2930897"/>
                </a:lnTo>
                <a:lnTo>
                  <a:pt x="0" y="29308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544408" y="8651181"/>
            <a:ext cx="2294220" cy="1993886"/>
          </a:xfrm>
          <a:custGeom>
            <a:avLst/>
            <a:gdLst/>
            <a:ahLst/>
            <a:cxnLst/>
            <a:rect l="l" t="t" r="r" b="b"/>
            <a:pathLst>
              <a:path w="2294220" h="1993886">
                <a:moveTo>
                  <a:pt x="0" y="0"/>
                </a:moveTo>
                <a:lnTo>
                  <a:pt x="2294220" y="0"/>
                </a:lnTo>
                <a:lnTo>
                  <a:pt x="2294220" y="1993885"/>
                </a:lnTo>
                <a:lnTo>
                  <a:pt x="0" y="19938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1724017" flipH="1">
            <a:off x="16555772" y="6096708"/>
            <a:ext cx="1904654" cy="3503543"/>
          </a:xfrm>
          <a:custGeom>
            <a:avLst/>
            <a:gdLst/>
            <a:ahLst/>
            <a:cxnLst/>
            <a:rect l="l" t="t" r="r" b="b"/>
            <a:pathLst>
              <a:path w="1904654" h="3503543">
                <a:moveTo>
                  <a:pt x="1904653" y="0"/>
                </a:moveTo>
                <a:lnTo>
                  <a:pt x="0" y="0"/>
                </a:lnTo>
                <a:lnTo>
                  <a:pt x="0" y="3503544"/>
                </a:lnTo>
                <a:lnTo>
                  <a:pt x="1904653" y="3503544"/>
                </a:lnTo>
                <a:lnTo>
                  <a:pt x="190465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5890365">
            <a:off x="17238110" y="8787417"/>
            <a:ext cx="970351" cy="1784927"/>
          </a:xfrm>
          <a:custGeom>
            <a:avLst/>
            <a:gdLst/>
            <a:ahLst/>
            <a:cxnLst/>
            <a:rect l="l" t="t" r="r" b="b"/>
            <a:pathLst>
              <a:path w="970351" h="1784927">
                <a:moveTo>
                  <a:pt x="0" y="0"/>
                </a:moveTo>
                <a:lnTo>
                  <a:pt x="970351" y="0"/>
                </a:lnTo>
                <a:lnTo>
                  <a:pt x="970351" y="1784927"/>
                </a:lnTo>
                <a:lnTo>
                  <a:pt x="0" y="17849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10688091">
            <a:off x="2406268" y="216322"/>
            <a:ext cx="962496" cy="1231100"/>
          </a:xfrm>
          <a:custGeom>
            <a:avLst/>
            <a:gdLst/>
            <a:ahLst/>
            <a:cxnLst/>
            <a:rect l="l" t="t" r="r" b="b"/>
            <a:pathLst>
              <a:path w="962496" h="1231100">
                <a:moveTo>
                  <a:pt x="0" y="0"/>
                </a:moveTo>
                <a:lnTo>
                  <a:pt x="962496" y="0"/>
                </a:lnTo>
                <a:lnTo>
                  <a:pt x="962496" y="1231100"/>
                </a:lnTo>
                <a:lnTo>
                  <a:pt x="0" y="12311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267603">
            <a:off x="15463627" y="7370994"/>
            <a:ext cx="972775" cy="1244247"/>
          </a:xfrm>
          <a:custGeom>
            <a:avLst/>
            <a:gdLst/>
            <a:ahLst/>
            <a:cxnLst/>
            <a:rect l="l" t="t" r="r" b="b"/>
            <a:pathLst>
              <a:path w="972775" h="1244247">
                <a:moveTo>
                  <a:pt x="0" y="0"/>
                </a:moveTo>
                <a:lnTo>
                  <a:pt x="972775" y="0"/>
                </a:lnTo>
                <a:lnTo>
                  <a:pt x="972775" y="1244247"/>
                </a:lnTo>
                <a:lnTo>
                  <a:pt x="0" y="12442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191796" y="-1340756"/>
            <a:ext cx="4135007" cy="4135007"/>
          </a:xfrm>
          <a:custGeom>
            <a:avLst/>
            <a:gdLst/>
            <a:ahLst/>
            <a:cxnLst/>
            <a:rect l="l" t="t" r="r" b="b"/>
            <a:pathLst>
              <a:path w="4135007" h="4135007">
                <a:moveTo>
                  <a:pt x="0" y="0"/>
                </a:moveTo>
                <a:lnTo>
                  <a:pt x="4135008" y="0"/>
                </a:lnTo>
                <a:lnTo>
                  <a:pt x="4135008" y="4135007"/>
                </a:lnTo>
                <a:lnTo>
                  <a:pt x="0" y="413500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6483308" y="200985"/>
            <a:ext cx="2343234" cy="2036483"/>
          </a:xfrm>
          <a:custGeom>
            <a:avLst/>
            <a:gdLst/>
            <a:ahLst/>
            <a:cxnLst/>
            <a:rect l="l" t="t" r="r" b="b"/>
            <a:pathLst>
              <a:path w="2343234" h="2036483">
                <a:moveTo>
                  <a:pt x="0" y="0"/>
                </a:moveTo>
                <a:lnTo>
                  <a:pt x="2343233" y="0"/>
                </a:lnTo>
                <a:lnTo>
                  <a:pt x="2343233" y="2036483"/>
                </a:lnTo>
                <a:lnTo>
                  <a:pt x="0" y="203648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97662" y="-324778"/>
            <a:ext cx="810079" cy="1051525"/>
          </a:xfrm>
          <a:custGeom>
            <a:avLst/>
            <a:gdLst/>
            <a:ahLst/>
            <a:cxnLst/>
            <a:rect l="l" t="t" r="r" b="b"/>
            <a:pathLst>
              <a:path w="810079" h="1051525">
                <a:moveTo>
                  <a:pt x="0" y="0"/>
                </a:moveTo>
                <a:lnTo>
                  <a:pt x="810079" y="0"/>
                </a:lnTo>
                <a:lnTo>
                  <a:pt x="810079" y="1051525"/>
                </a:lnTo>
                <a:lnTo>
                  <a:pt x="0" y="105152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4606642" y="8895023"/>
            <a:ext cx="810079" cy="1051525"/>
          </a:xfrm>
          <a:custGeom>
            <a:avLst/>
            <a:gdLst/>
            <a:ahLst/>
            <a:cxnLst/>
            <a:rect l="l" t="t" r="r" b="b"/>
            <a:pathLst>
              <a:path w="810079" h="1051525">
                <a:moveTo>
                  <a:pt x="0" y="0"/>
                </a:moveTo>
                <a:lnTo>
                  <a:pt x="810079" y="0"/>
                </a:lnTo>
                <a:lnTo>
                  <a:pt x="810079" y="1051525"/>
                </a:lnTo>
                <a:lnTo>
                  <a:pt x="0" y="105152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2457106" y="2371725"/>
            <a:ext cx="13373787" cy="5248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0"/>
              </a:lnSpc>
            </a:pPr>
            <a:r>
              <a:rPr lang="en-US" sz="15000">
                <a:solidFill>
                  <a:srgbClr val="537122"/>
                </a:solidFill>
                <a:latin typeface="Lilita One"/>
                <a:ea typeface="Lilita One"/>
                <a:cs typeface="Lilita One"/>
                <a:sym typeface="Lilita One"/>
              </a:rPr>
              <a:t>¡Gracias por su atención!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632</Words>
  <Application>Microsoft Office PowerPoint</Application>
  <PresentationFormat>Personalizado</PresentationFormat>
  <Paragraphs>75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22" baseType="lpstr">
      <vt:lpstr>Comic Sans</vt:lpstr>
      <vt:lpstr>Open Sans</vt:lpstr>
      <vt:lpstr>Lilita One</vt:lpstr>
      <vt:lpstr>Canva Sans</vt:lpstr>
      <vt:lpstr>Arial</vt:lpstr>
      <vt:lpstr>TT Norms Bold</vt:lpstr>
      <vt:lpstr>Open Sans Bold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PATITAS PERDIDAS</dc:title>
  <dc:creator>Angel Mauricio Carrillo Barros</dc:creator>
  <cp:lastModifiedBy>Angel Mauricio Carrillo Barros</cp:lastModifiedBy>
  <cp:revision>3</cp:revision>
  <dcterms:created xsi:type="dcterms:W3CDTF">2006-08-16T00:00:00Z</dcterms:created>
  <dcterms:modified xsi:type="dcterms:W3CDTF">2026-07-03T15:08:23Z</dcterms:modified>
  <dc:identifier>DAHOTGZYCs4</dc:identifier>
</cp:coreProperties>
</file>